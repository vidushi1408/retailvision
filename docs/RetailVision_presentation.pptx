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26bab2b-9f54-9cf5-730c-d90a801976ad}">
          <p14:sldIdLst>
            <p14:sldId id="256"/>
          </p14:sldIdLst>
        </p14:section>
        <p14:section name="Idea" id="{86a1ab7c-d3fb-69b5-cb0d-220b4552b25c}">
          <p14:sldIdLst>
            <p14:sldId id="257"/>
          </p14:sldIdLst>
        </p14:section>
        <p14:section name="How it works" id="{1dd646a8-bf60-6977-e4cd-507842a294ad}">
          <p14:sldIdLst>
            <p14:sldId id="258"/>
          </p14:sldIdLst>
        </p14:section>
        <p14:section name="Demo" id="{b2041aa8-986e-1170-0015-1e7a68732dc8}">
          <p14:sldIdLst>
            <p14:sldId id="259"/>
            <p14:sldId id="261"/>
            <p14:sldId id="262"/>
          </p14:sldIdLst>
        </p14:section>
        <p14:section name="Results" id="{770cd4c0-1748-d127-a20c-4570ede9e6a4}">
          <p14:sldIdLst>
            <p14:sldId id="260"/>
          </p14:sldIdLst>
        </p14:section>
        <p14:section name="Findings" id="{1013d79d-153d-6d60-ab8c-13526b71a5f9}">
          <p14:sldIdLst>
            <p14:sldId id="263"/>
          </p14:sldIdLst>
        </p14:section>
        <p14:section name="Next" id="{a0fc3c66-7fc7-b20b-94c4-58f825c3988a}">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2A"/>
                </a:solidFill>
                <a:latin typeface="+mn-lt"/>
              </a:defRPr>
            </a:pPr>
            <a:r>
              <a:rPr sz="1400" b="0" i="0" u="none" strike="noStrike">
                <a:solidFill>
                  <a:srgbClr val="0B1F2A"/>
                </a:solidFill>
                <a:latin typeface="+mn-lt"/>
              </a:rPr>
              <a:t>Average error, in people (lower is better)</a:t>
            </a:r>
          </a:p>
        </c:rich>
      </c:tx>
      <c:layout/>
      <c:overlay val="0"/>
    </c:title>
    <c:autoTitleDeleted val="0"/>
    <c:plotArea>
      <c:layout/>
      <c:barChart>
        <c:barDir val="col"/>
        <c:grouping val="clustered"/>
        <c:varyColors val="0"/>
        <c:ser>
          <c:idx val="0"/>
          <c:order val="0"/>
          <c:tx>
            <c:strRef>
              <c:f>Sheet1!$B$1</c:f>
              <c:strCache>
                <c:ptCount val="1"/>
                <c:pt idx="0">
                  <c:v>Original settings</c:v>
                </c:pt>
              </c:strCache>
            </c:strRef>
          </c:tx>
          <c:spPr>
            <a:solidFill>
              <a:srgbClr val="64748B"/>
            </a:solidFill>
            <a:effectLst/>
          </c:spPr>
          <c:invertIfNegative val="0"/>
          <c:dLbls>
            <c:numFmt formatCode="0.0" sourceLinked="0"/>
            <c:txPr>
              <a:bodyPr/>
              <a:lstStyle/>
              <a:p>
                <a:pPr>
                  <a:defRPr b="0" i="0" strike="noStrike" sz="1200" u="none">
                    <a:solidFill>
                      <a:srgbClr val="0B1F2A"/>
                    </a:solidFill>
                    <a:latin typeface="+mn-lt"/>
                  </a:defRPr>
                </a:pPr>
              </a:p>
            </c:txPr>
            <c:showLegendKey val="0"/>
            <c:showVal val="1"/>
            <c:showCatName val="0"/>
            <c:showSerName val="0"/>
            <c:showPercent val="0"/>
            <c:showBubbleSize val="0"/>
            <c:showLeaderLines val="0"/>
          </c:dLbls>
          <c:cat>
            <c:multiLvlStrRef>
              <c:f>Sheet1!$A$2:$A$3</c:f>
              <c:multiLvlStrCache>
                <c:ptCount val="2"/>
                <c:lvl>
                  <c:pt idx="0">
                    <c:v>Per-frame count error</c:v>
                  </c:pt>
                  <c:pt idx="1">
                    <c:v>Occupancy error per second</c:v>
                  </c:pt>
                </c:lvl>
              </c:multiLvlStrCache>
            </c:multiLvlStrRef>
          </c:cat>
          <c:val>
            <c:numRef>
              <c:f>Sheet1!$B$2:$B$3</c:f>
              <c:numCache>
                <c:formatCode>General</c:formatCode>
                <c:ptCount val="2"/>
                <c:pt idx="0">
                  <c:v>13.2</c:v>
                </c:pt>
                <c:pt idx="1">
                  <c:v>12.2</c:v>
                </c:pt>
              </c:numCache>
            </c:numRef>
          </c:val>
        </c:ser>
        <c:ser>
          <c:idx val="1"/>
          <c:order val="1"/>
          <c:tx>
            <c:strRef>
              <c:f>Sheet1!$C$1</c:f>
              <c:strCache>
                <c:ptCount val="1"/>
                <c:pt idx="0">
                  <c:v>Tuned pipeline</c:v>
                </c:pt>
              </c:strCache>
            </c:strRef>
          </c:tx>
          <c:spPr>
            <a:solidFill>
              <a:srgbClr val="0F9D8A"/>
            </a:solidFill>
            <a:effectLst/>
          </c:spPr>
          <c:invertIfNegative val="0"/>
          <c:dLbls>
            <c:numFmt formatCode="0.0" sourceLinked="0"/>
            <c:txPr>
              <a:bodyPr/>
              <a:lstStyle/>
              <a:p>
                <a:pPr>
                  <a:defRPr b="0" i="0" strike="noStrike" sz="1200" u="none">
                    <a:solidFill>
                      <a:srgbClr val="0B1F2A"/>
                    </a:solidFill>
                    <a:latin typeface="+mn-lt"/>
                  </a:defRPr>
                </a:pPr>
              </a:p>
            </c:txPr>
            <c:showLegendKey val="0"/>
            <c:showVal val="1"/>
            <c:showCatName val="0"/>
            <c:showSerName val="0"/>
            <c:showPercent val="0"/>
            <c:showBubbleSize val="0"/>
            <c:showLeaderLines val="0"/>
          </c:dLbls>
          <c:cat>
            <c:multiLvlStrRef>
              <c:f>Sheet1!$A$2:$A$3</c:f>
              <c:multiLvlStrCache>
                <c:ptCount val="2"/>
                <c:lvl>
                  <c:pt idx="0">
                    <c:v>Per-frame count error</c:v>
                  </c:pt>
                  <c:pt idx="1">
                    <c:v>Occupancy error per second</c:v>
                  </c:pt>
                </c:lvl>
              </c:multiLvlStrCache>
            </c:multiLvlStrRef>
          </c:cat>
          <c:val>
            <c:numRef>
              <c:f>Sheet1!$C$2:$C$3</c:f>
              <c:numCache>
                <c:formatCode>General</c:formatCode>
                <c:ptCount val="2"/>
                <c:pt idx="0">
                  <c:v>4.1</c:v>
                </c:pt>
                <c:pt idx="1">
                  <c:v>3.8</c:v>
                </c:pt>
              </c:numCache>
            </c:numRef>
          </c:val>
        </c:ser>
        <c:dLbls>
          <c:numFmt formatCode="0.0" sourceLinked="0"/>
          <c:txPr>
            <a:bodyPr/>
            <a:lstStyle/>
            <a:p>
              <a:pPr>
                <a:defRPr b="0" i="0" strike="noStrike" sz="1200" u="none">
                  <a:solidFill>
                    <a:srgbClr val="0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1F2A"/>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12700" cap="flat">
              <a:solidFill>
                <a:srgbClr val="EEF3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B52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F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stores have cameras but nobody turns the footage into numbers. RetailVision does that, and everything runs locally, with no external API and no data leaving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the starting point: the original code counted every object YOLO found in a single image. The rebuild adds tracking, metrics, forecasting and a local 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Stress that detection and association are separate: that was one of the bugs we found, because the tracker alone hides most people at low frame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demo/annotated_demo.mp4 here. Point at the counter updating as people cross the yellow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CUHK Mall, 2,000 CCTV frames with per-frame ground-truth counts (research use). Original settings missed about 4 in 10 people; larger input size and a lower confidence threshold fixed most of it. The occupancy fix came from separating detection from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click-through: upload the clip, watch the progress, show the KPI cards updating. 'People tracked' is labelled an estimate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outputs from the demo database. We found and fixed two wrong answers while preparing this (it once said '1 person crossed' for 583), so we added examples and re-ran the 30-question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builds trust. Every number on earlier slides has a measurement behind it; these three are the places where the measurement told us to stop claiming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workstream has a different owner. The code, tests and CI are in place so each can be validated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facts: it works, it is tested, it needs no outside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58521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749040"/>
            <a:ext cx="585216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tx2"/>
                </a:solidFill>
              </a:rPr>
              <a:t>RetailVision</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5852160" cy="2011680"/>
          </a:xfrm>
          <a:prstGeom prst="rect">
            <a:avLst/>
          </a:prstGeom>
          <a:noFill/>
          <a:ln/>
        </p:spPr>
        <p:txBody>
          <a:bodyPr wrap="square" lIns="0" tIns="0" rIns="0" bIns="0" rtlCol="0" anchor="t"/>
          <a:lstStyle/>
          <a:p>
            <a:pPr algn="l" indent="0" marL="0">
              <a:buNone/>
            </a:pPr>
            <a:r>
              <a:rPr lang="en-US" sz="5400" b="1" dirty="0">
                <a:solidFill>
                  <a:schemeClr val="bg1"/>
                </a:solidFill>
              </a:rPr>
              <a:t>RetailVision</a:t>
            </a:r>
            <a:endParaRPr lang="en-US" sz="5400" dirty="0"/>
          </a:p>
        </p:txBody>
      </p:sp>
      <p:sp>
        <p:nvSpPr>
          <p:cNvPr id="3" name="Text 0"/>
          <p:cNvSpPr/>
          <p:nvPr>
            <p:ph idx="101" type="body" hasCustomPrompt="1"/>
          </p:nvPr>
        </p:nvSpPr>
        <p:spPr>
          <a:xfrm>
            <a:off x="548640" y="3749040"/>
            <a:ext cx="5852160" cy="1463040"/>
          </a:xfrm>
          <a:prstGeom prst="rect">
            <a:avLst/>
          </a:prstGeom>
          <a:noFill/>
          <a:ln/>
        </p:spPr>
        <p:txBody>
          <a:bodyPr wrap="square" lIns="0" tIns="0" rIns="0" bIns="0" rtlCol="0" anchor="t"/>
          <a:lstStyle/>
          <a:p>
            <a:pPr algn="l" indent="0" marL="0">
              <a:buNone/>
            </a:pPr>
            <a:r>
              <a:rPr lang="en-US" sz="2000" dirty="0">
                <a:solidFill>
                  <a:schemeClr val="bg2"/>
                </a:solidFill>
              </a:rPr>
              <a:t>Turning store-camera video into decisions, with AI that runs entirely on your own machine</a:t>
            </a:r>
            <a:endParaRPr lang="en-US" sz="2000" dirty="0"/>
          </a:p>
        </p:txBody>
      </p:sp>
      <p:sp>
        <p:nvSpPr>
          <p:cNvPr id="4" name="Text 2"/>
          <p:cNvSpPr txBox="1"/>
          <p:nvPr/>
        </p:nvSpPr>
        <p:spPr>
          <a:xfrm>
            <a:off x="548640" y="5760720"/>
            <a:ext cx="6400800" cy="365760"/>
          </a:xfrm>
          <a:prstGeom prst="rect">
            <a:avLst/>
          </a:prstGeom>
          <a:noFill/>
          <a:ln/>
        </p:spPr>
        <p:txBody>
          <a:bodyPr wrap="square" lIns="0" tIns="0" rIns="0" bIns="0" rtlCol="0" anchor="t"/>
          <a:lstStyle/>
          <a:p>
            <a:pPr indent="0" marL="0">
              <a:buNone/>
            </a:pPr>
            <a:r>
              <a:rPr lang="en-US" sz="1400" dirty="0">
                <a:solidFill>
                  <a:schemeClr val="accent1"/>
                </a:solidFill>
              </a:rPr>
              <a:t>Detection  ·  Tracking  ·  Forecasting  ·  Local LLM analyst</a:t>
            </a:r>
            <a:endParaRPr lang="en-US" sz="1400" dirty="0"/>
          </a:p>
        </p:txBody>
      </p:sp>
      <p:pic>
        <p:nvPicPr>
          <p:cNvPr id="5" name="Annotated CCTV frame" descr="Annotated mall CCTV frame with tracked people">    </p:cNvPr>
          <p:cNvPicPr>
            <a:picLocks noChangeAspect="1"/>
          </p:cNvPicPr>
          <p:nvPr/>
        </p:nvPicPr>
        <p:blipFill>
          <a:blip r:embed="rId1"/>
          <a:stretch>
            <a:fillRect/>
          </a:stretch>
        </p:blipFill>
        <p:spPr>
          <a:xfrm>
            <a:off x="6858000" y="1280160"/>
            <a:ext cx="4754880" cy="3566160"/>
          </a:xfrm>
          <a:prstGeom prst="rect">
            <a:avLst/>
          </a:prstGeom>
        </p:spPr>
      </p:pic>
      <p:sp>
        <p:nvSpPr>
          <p:cNvPr id="6" name="Text 3"/>
          <p:cNvSpPr txBox="1"/>
          <p:nvPr/>
        </p:nvSpPr>
        <p:spPr>
          <a:xfrm>
            <a:off x="6858000" y="4937760"/>
            <a:ext cx="4754880" cy="274320"/>
          </a:xfrm>
          <a:prstGeom prst="rect">
            <a:avLst/>
          </a:prstGeom>
          <a:noFill/>
          <a:ln/>
        </p:spPr>
        <p:txBody>
          <a:bodyPr wrap="square" lIns="0" tIns="0" rIns="0" bIns="0" rtlCol="0" anchor="t"/>
          <a:lstStyle/>
          <a:p>
            <a:pPr indent="0" marL="0">
              <a:buNone/>
            </a:pPr>
            <a:r>
              <a:rPr lang="en-US" sz="1100" dirty="0">
                <a:solidFill>
                  <a:schemeClr val="bg2"/>
                </a:solidFill>
              </a:rPr>
              <a:t>Real mall CCTV, processed by our pipeline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From a people counter to a store analyst</a:t>
            </a:r>
            <a:endParaRPr lang="en-US" sz="3600" dirty="0"/>
          </a:p>
        </p:txBody>
      </p:sp>
      <p:sp>
        <p:nvSpPr>
          <p:cNvPr id="3" name="Before card"/>
          <p:cNvSpPr/>
          <p:nvPr/>
        </p:nvSpPr>
        <p:spPr>
          <a:xfrm>
            <a:off x="548640" y="1463040"/>
            <a:ext cx="5349240" cy="4480560"/>
          </a:xfrm>
          <a:prstGeom prst="roundRect">
            <a:avLst>
              <a:gd name="adj" fmla="val 2449"/>
            </a:avLst>
          </a:prstGeom>
          <a:solidFill>
            <a:schemeClr val="bg2"/>
          </a:solidFill>
          <a:ln w="12700">
            <a:solidFill>
              <a:schemeClr val="bg2"/>
            </a:solidFill>
            <a:prstDash val="solid"/>
          </a:ln>
        </p:spPr>
      </p:sp>
      <p:sp>
        <p:nvSpPr>
          <p:cNvPr id="4" name="Text 2"/>
          <p:cNvSpPr txBox="1"/>
          <p:nvPr/>
        </p:nvSpPr>
        <p:spPr>
          <a:xfrm>
            <a:off x="868680" y="1737360"/>
            <a:ext cx="4709160" cy="365760"/>
          </a:xfrm>
          <a:prstGeom prst="rect">
            <a:avLst/>
          </a:prstGeom>
          <a:noFill/>
          <a:ln/>
        </p:spPr>
        <p:txBody>
          <a:bodyPr wrap="square" lIns="0" tIns="0" rIns="0" bIns="0" rtlCol="0" anchor="t"/>
          <a:lstStyle/>
          <a:p>
            <a:pPr indent="0" marL="0">
              <a:buNone/>
            </a:pPr>
            <a:r>
              <a:rPr lang="en-US" sz="2200" b="1" dirty="0">
                <a:solidFill>
                  <a:schemeClr val="accent3"/>
                </a:solidFill>
              </a:rPr>
              <a:t>Where we started</a:t>
            </a:r>
            <a:endParaRPr lang="en-US" sz="2200" dirty="0"/>
          </a:p>
        </p:txBody>
      </p:sp>
      <p:sp>
        <p:nvSpPr>
          <p:cNvPr id="5" name="Text 3"/>
          <p:cNvSpPr txBox="1"/>
          <p:nvPr/>
        </p:nvSpPr>
        <p:spPr>
          <a:xfrm>
            <a:off x="868680" y="2377440"/>
            <a:ext cx="4709160" cy="32004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Counted every detected object, not only people</a:t>
            </a:r>
            <a:endParaRPr lang="en-US" sz="1800" dirty="0"/>
          </a:p>
          <a:p>
            <a:pPr marL="342900" indent="-342900">
              <a:spcAft>
                <a:spcPts val="1200"/>
              </a:spcAft>
              <a:buSzPct val="100000"/>
              <a:buChar char="•"/>
            </a:pPr>
            <a:r>
              <a:rPr lang="en-US" sz="1800" dirty="0">
                <a:solidFill>
                  <a:schemeClr val="tx1"/>
                </a:solidFill>
              </a:rPr>
              <a:t>Looked at one image, not a video</a:t>
            </a:r>
            <a:endParaRPr lang="en-US" sz="1800" dirty="0"/>
          </a:p>
          <a:p>
            <a:pPr marL="342900" indent="-342900">
              <a:spcAft>
                <a:spcPts val="1200"/>
              </a:spcAft>
              <a:buSzPct val="100000"/>
              <a:buChar char="•"/>
            </a:pPr>
            <a:r>
              <a:rPr lang="en-US" sz="1800" dirty="0">
                <a:solidFill>
                  <a:schemeClr val="tx1"/>
                </a:solidFill>
              </a:rPr>
              <a:t>No memory of who was where, or for how long</a:t>
            </a:r>
            <a:endParaRPr lang="en-US" sz="1800" dirty="0"/>
          </a:p>
          <a:p>
            <a:pPr marL="342900" indent="-342900">
              <a:spcAft>
                <a:spcPts val="1200"/>
              </a:spcAft>
              <a:buSzPct val="100000"/>
              <a:buChar char="•"/>
            </a:pPr>
            <a:r>
              <a:rPr lang="en-US" sz="1800" dirty="0">
                <a:solidFill>
                  <a:schemeClr val="tx1"/>
                </a:solidFill>
              </a:rPr>
              <a:t>No way to ask questions or look ahead</a:t>
            </a:r>
            <a:endParaRPr lang="en-US" sz="1800" dirty="0"/>
          </a:p>
        </p:txBody>
      </p:sp>
      <p:sp>
        <p:nvSpPr>
          <p:cNvPr id="6" name="After card"/>
          <p:cNvSpPr/>
          <p:nvPr/>
        </p:nvSpPr>
        <p:spPr>
          <a:xfrm>
            <a:off x="6291072" y="1463040"/>
            <a:ext cx="5349240" cy="4480560"/>
          </a:xfrm>
          <a:prstGeom prst="roundRect">
            <a:avLst>
              <a:gd name="adj" fmla="val 2449"/>
            </a:avLst>
          </a:prstGeom>
          <a:solidFill>
            <a:schemeClr val="bg2"/>
          </a:solidFill>
          <a:ln w="12700">
            <a:solidFill>
              <a:schemeClr val="bg2"/>
            </a:solidFill>
            <a:prstDash val="solid"/>
          </a:ln>
        </p:spPr>
      </p:sp>
      <p:sp>
        <p:nvSpPr>
          <p:cNvPr id="7" name="Text 5"/>
          <p:cNvSpPr txBox="1"/>
          <p:nvPr/>
        </p:nvSpPr>
        <p:spPr>
          <a:xfrm>
            <a:off x="6611112" y="1737360"/>
            <a:ext cx="4709160" cy="365760"/>
          </a:xfrm>
          <a:prstGeom prst="rect">
            <a:avLst/>
          </a:prstGeom>
          <a:noFill/>
          <a:ln/>
        </p:spPr>
        <p:txBody>
          <a:bodyPr wrap="square" lIns="0" tIns="0" rIns="0" bIns="0" rtlCol="0" anchor="t"/>
          <a:lstStyle/>
          <a:p>
            <a:pPr indent="0" marL="0">
              <a:buNone/>
            </a:pPr>
            <a:r>
              <a:rPr lang="en-US" sz="2200" b="1" dirty="0">
                <a:solidFill>
                  <a:schemeClr val="accent2"/>
                </a:solidFill>
              </a:rPr>
              <a:t>What it does now</a:t>
            </a:r>
            <a:endParaRPr lang="en-US" sz="2200" dirty="0"/>
          </a:p>
        </p:txBody>
      </p:sp>
      <p:sp>
        <p:nvSpPr>
          <p:cNvPr id="8" name="Text 6"/>
          <p:cNvSpPr txBox="1"/>
          <p:nvPr/>
        </p:nvSpPr>
        <p:spPr>
          <a:xfrm>
            <a:off x="6611112" y="2377440"/>
            <a:ext cx="4709160" cy="33832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Tracks people through the video (YOLOv8 + ByteTrack)</a:t>
            </a:r>
            <a:endParaRPr lang="en-US" sz="1800" dirty="0"/>
          </a:p>
          <a:p>
            <a:pPr marL="342900" indent="-342900">
              <a:spcAft>
                <a:spcPts val="1000"/>
              </a:spcAft>
              <a:buSzPct val="100000"/>
              <a:buChar char="•"/>
            </a:pPr>
            <a:r>
              <a:rPr lang="en-US" sz="1800" dirty="0">
                <a:solidFill>
                  <a:schemeClr val="tx1"/>
                </a:solidFill>
              </a:rPr>
              <a:t>Measures occupancy, entrance crossings and dwell time</a:t>
            </a:r>
            <a:endParaRPr lang="en-US" sz="1800" dirty="0"/>
          </a:p>
          <a:p>
            <a:pPr marL="342900" indent="-342900">
              <a:spcAft>
                <a:spcPts val="1000"/>
              </a:spcAft>
              <a:buSzPct val="100000"/>
              <a:buChar char="•"/>
            </a:pPr>
            <a:r>
              <a:rPr lang="en-US" sz="1800" dirty="0">
                <a:solidFill>
                  <a:schemeClr val="tx1"/>
                </a:solidFill>
              </a:rPr>
              <a:t>Groups shoppers by behaviour and maps busy zones</a:t>
            </a:r>
            <a:endParaRPr lang="en-US" sz="1800" dirty="0"/>
          </a:p>
          <a:p>
            <a:pPr marL="342900" indent="-342900">
              <a:spcAft>
                <a:spcPts val="1000"/>
              </a:spcAft>
              <a:buSzPct val="100000"/>
              <a:buChar char="•"/>
            </a:pPr>
            <a:r>
              <a:rPr lang="en-US" sz="1800" dirty="0">
                <a:solidFill>
                  <a:schemeClr val="tx1"/>
                </a:solidFill>
              </a:rPr>
              <a:t>Forecasts footfall and answers questions in plain English</a:t>
            </a:r>
            <a:endParaRPr lang="en-US" sz="1800" dirty="0"/>
          </a:p>
          <a:p>
            <a:pPr marL="342900" indent="-342900">
              <a:spcAft>
                <a:spcPts val="1000"/>
              </a:spcAft>
              <a:buSzPct val="100000"/>
              <a:buChar char="•"/>
            </a:pPr>
            <a:r>
              <a:rPr lang="en-US" sz="1800" dirty="0">
                <a:solidFill>
                  <a:schemeClr val="tx1"/>
                </a:solidFill>
              </a:rPr>
              <a:t>100% local: no cloud API, no data leaves the store</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How it works: one pipeline, all local</a:t>
            </a:r>
            <a:endParaRPr lang="en-US" sz="3600" dirty="0"/>
          </a:p>
        </p:txBody>
      </p:sp>
      <p:sp>
        <p:nvSpPr>
          <p:cNvPr id="3" name="Step 1 card"/>
          <p:cNvSpPr/>
          <p:nvPr/>
        </p:nvSpPr>
        <p:spPr>
          <a:xfrm>
            <a:off x="548640" y="1554480"/>
            <a:ext cx="2011680" cy="2103120"/>
          </a:xfrm>
          <a:prstGeom prst="roundRect">
            <a:avLst>
              <a:gd name="adj" fmla="val 5455"/>
            </a:avLst>
          </a:prstGeom>
          <a:solidFill>
            <a:schemeClr val="bg2"/>
          </a:solidFill>
          <a:ln w="12700">
            <a:solidFill>
              <a:schemeClr val="bg2"/>
            </a:solidFill>
            <a:prstDash val="solid"/>
          </a:ln>
        </p:spPr>
      </p:sp>
      <p:sp>
        <p:nvSpPr>
          <p:cNvPr id="4" name="Step 1 badge"/>
          <p:cNvSpPr/>
          <p:nvPr/>
        </p:nvSpPr>
        <p:spPr>
          <a:xfrm>
            <a:off x="777240" y="178308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7724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77240" y="2377440"/>
            <a:ext cx="1554480" cy="365760"/>
          </a:xfrm>
          <a:prstGeom prst="rect">
            <a:avLst/>
          </a:prstGeom>
          <a:noFill/>
          <a:ln/>
        </p:spPr>
        <p:txBody>
          <a:bodyPr wrap="square" lIns="0" tIns="0" rIns="0" bIns="0" rtlCol="0" anchor="t"/>
          <a:lstStyle/>
          <a:p>
            <a:pPr indent="0" marL="0">
              <a:buNone/>
            </a:pPr>
            <a:r>
              <a:rPr lang="en-US" sz="2000" b="1" dirty="0">
                <a:solidFill>
                  <a:schemeClr val="tx1"/>
                </a:solidFill>
              </a:rPr>
              <a:t>Video</a:t>
            </a:r>
            <a:endParaRPr lang="en-US" sz="2000" dirty="0"/>
          </a:p>
        </p:txBody>
      </p:sp>
      <p:sp>
        <p:nvSpPr>
          <p:cNvPr id="7" name="Text 5"/>
          <p:cNvSpPr txBox="1"/>
          <p:nvPr/>
        </p:nvSpPr>
        <p:spPr>
          <a:xfrm>
            <a:off x="777240" y="2788920"/>
            <a:ext cx="1554480" cy="777240"/>
          </a:xfrm>
          <a:prstGeom prst="rect">
            <a:avLst/>
          </a:prstGeom>
          <a:noFill/>
          <a:ln/>
        </p:spPr>
        <p:txBody>
          <a:bodyPr wrap="square" lIns="0" tIns="0" rIns="0" bIns="0" rtlCol="0" anchor="t"/>
          <a:lstStyle/>
          <a:p>
            <a:pPr indent="0" marL="0">
              <a:buNone/>
            </a:pPr>
            <a:r>
              <a:rPr lang="en-US" sz="1400" dirty="0">
                <a:solidFill>
                  <a:schemeClr val="tx2"/>
                </a:solidFill>
              </a:rPr>
              <a:t>CCTV clip uploaded in the dashboard</a:t>
            </a:r>
            <a:endParaRPr lang="en-US" sz="1400" dirty="0"/>
          </a:p>
        </p:txBody>
      </p:sp>
      <p:sp>
        <p:nvSpPr>
          <p:cNvPr id="8" name="Text 6"/>
          <p:cNvSpPr txBox="1"/>
          <p:nvPr/>
        </p:nvSpPr>
        <p:spPr>
          <a:xfrm>
            <a:off x="2560320" y="2331720"/>
            <a:ext cx="256032" cy="45720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9" name="Step 2 card"/>
          <p:cNvSpPr/>
          <p:nvPr/>
        </p:nvSpPr>
        <p:spPr>
          <a:xfrm>
            <a:off x="2816352" y="1554480"/>
            <a:ext cx="2011680" cy="2103120"/>
          </a:xfrm>
          <a:prstGeom prst="roundRect">
            <a:avLst>
              <a:gd name="adj" fmla="val 5455"/>
            </a:avLst>
          </a:prstGeom>
          <a:solidFill>
            <a:schemeClr val="bg2"/>
          </a:solidFill>
          <a:ln w="12700">
            <a:solidFill>
              <a:schemeClr val="bg2"/>
            </a:solidFill>
            <a:prstDash val="solid"/>
          </a:ln>
        </p:spPr>
      </p:sp>
      <p:sp>
        <p:nvSpPr>
          <p:cNvPr id="10" name="Step 2 badge"/>
          <p:cNvSpPr/>
          <p:nvPr/>
        </p:nvSpPr>
        <p:spPr>
          <a:xfrm>
            <a:off x="3044952" y="1783080"/>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3044952"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3044952" y="2377440"/>
            <a:ext cx="1554480" cy="365760"/>
          </a:xfrm>
          <a:prstGeom prst="rect">
            <a:avLst/>
          </a:prstGeom>
          <a:noFill/>
          <a:ln/>
        </p:spPr>
        <p:txBody>
          <a:bodyPr wrap="square" lIns="0" tIns="0" rIns="0" bIns="0" rtlCol="0" anchor="t"/>
          <a:lstStyle/>
          <a:p>
            <a:pPr indent="0" marL="0">
              <a:buNone/>
            </a:pPr>
            <a:r>
              <a:rPr lang="en-US" sz="2000" b="1" dirty="0">
                <a:solidFill>
                  <a:schemeClr val="tx1"/>
                </a:solidFill>
              </a:rPr>
              <a:t>Detect</a:t>
            </a:r>
            <a:endParaRPr lang="en-US" sz="2000" dirty="0"/>
          </a:p>
        </p:txBody>
      </p:sp>
      <p:sp>
        <p:nvSpPr>
          <p:cNvPr id="13" name="Text 11"/>
          <p:cNvSpPr txBox="1"/>
          <p:nvPr/>
        </p:nvSpPr>
        <p:spPr>
          <a:xfrm>
            <a:off x="3044952" y="2788920"/>
            <a:ext cx="1554480" cy="777240"/>
          </a:xfrm>
          <a:prstGeom prst="rect">
            <a:avLst/>
          </a:prstGeom>
          <a:noFill/>
          <a:ln/>
        </p:spPr>
        <p:txBody>
          <a:bodyPr wrap="square" lIns="0" tIns="0" rIns="0" bIns="0" rtlCol="0" anchor="t"/>
          <a:lstStyle/>
          <a:p>
            <a:pPr indent="0" marL="0">
              <a:buNone/>
            </a:pPr>
            <a:r>
              <a:rPr lang="en-US" sz="1400" dirty="0">
                <a:solidFill>
                  <a:schemeClr val="tx2"/>
                </a:solidFill>
              </a:rPr>
              <a:t>YOLOv8s finds every person in each frame</a:t>
            </a:r>
            <a:endParaRPr lang="en-US" sz="1400" dirty="0"/>
          </a:p>
        </p:txBody>
      </p:sp>
      <p:sp>
        <p:nvSpPr>
          <p:cNvPr id="14" name="Text 12"/>
          <p:cNvSpPr txBox="1"/>
          <p:nvPr/>
        </p:nvSpPr>
        <p:spPr>
          <a:xfrm>
            <a:off x="4828032" y="2331720"/>
            <a:ext cx="256032" cy="45720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15" name="Step 3 card"/>
          <p:cNvSpPr/>
          <p:nvPr/>
        </p:nvSpPr>
        <p:spPr>
          <a:xfrm>
            <a:off x="5084064" y="1554480"/>
            <a:ext cx="2011680" cy="2103120"/>
          </a:xfrm>
          <a:prstGeom prst="roundRect">
            <a:avLst>
              <a:gd name="adj" fmla="val 5455"/>
            </a:avLst>
          </a:prstGeom>
          <a:solidFill>
            <a:schemeClr val="bg2"/>
          </a:solidFill>
          <a:ln w="12700">
            <a:solidFill>
              <a:schemeClr val="bg2"/>
            </a:solidFill>
            <a:prstDash val="solid"/>
          </a:ln>
        </p:spPr>
      </p:sp>
      <p:sp>
        <p:nvSpPr>
          <p:cNvPr id="16" name="Step 3 badge"/>
          <p:cNvSpPr/>
          <p:nvPr/>
        </p:nvSpPr>
        <p:spPr>
          <a:xfrm>
            <a:off x="5312664" y="178308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5312664"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5312664" y="2377440"/>
            <a:ext cx="1554480" cy="365760"/>
          </a:xfrm>
          <a:prstGeom prst="rect">
            <a:avLst/>
          </a:prstGeom>
          <a:noFill/>
          <a:ln/>
        </p:spPr>
        <p:txBody>
          <a:bodyPr wrap="square" lIns="0" tIns="0" rIns="0" bIns="0" rtlCol="0" anchor="t"/>
          <a:lstStyle/>
          <a:p>
            <a:pPr indent="0" marL="0">
              <a:buNone/>
            </a:pPr>
            <a:r>
              <a:rPr lang="en-US" sz="2000" b="1" dirty="0">
                <a:solidFill>
                  <a:schemeClr val="tx1"/>
                </a:solidFill>
              </a:rPr>
              <a:t>Track</a:t>
            </a:r>
            <a:endParaRPr lang="en-US" sz="2000" dirty="0"/>
          </a:p>
        </p:txBody>
      </p:sp>
      <p:sp>
        <p:nvSpPr>
          <p:cNvPr id="19" name="Text 17"/>
          <p:cNvSpPr txBox="1"/>
          <p:nvPr/>
        </p:nvSpPr>
        <p:spPr>
          <a:xfrm>
            <a:off x="5312664" y="2788920"/>
            <a:ext cx="1554480" cy="777240"/>
          </a:xfrm>
          <a:prstGeom prst="rect">
            <a:avLst/>
          </a:prstGeom>
          <a:noFill/>
          <a:ln/>
        </p:spPr>
        <p:txBody>
          <a:bodyPr wrap="square" lIns="0" tIns="0" rIns="0" bIns="0" rtlCol="0" anchor="t"/>
          <a:lstStyle/>
          <a:p>
            <a:pPr indent="0" marL="0">
              <a:buNone/>
            </a:pPr>
            <a:r>
              <a:rPr lang="en-US" sz="1400" dirty="0">
                <a:solidFill>
                  <a:schemeClr val="tx2"/>
                </a:solidFill>
              </a:rPr>
              <a:t>ByteTrack links detections into paths</a:t>
            </a:r>
            <a:endParaRPr lang="en-US" sz="1400" dirty="0"/>
          </a:p>
        </p:txBody>
      </p:sp>
      <p:sp>
        <p:nvSpPr>
          <p:cNvPr id="20" name="Text 18"/>
          <p:cNvSpPr txBox="1"/>
          <p:nvPr/>
        </p:nvSpPr>
        <p:spPr>
          <a:xfrm>
            <a:off x="7095744" y="2331720"/>
            <a:ext cx="256032" cy="45720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21" name="Step 4 card"/>
          <p:cNvSpPr/>
          <p:nvPr/>
        </p:nvSpPr>
        <p:spPr>
          <a:xfrm>
            <a:off x="7351776" y="1554480"/>
            <a:ext cx="2011680" cy="2103120"/>
          </a:xfrm>
          <a:prstGeom prst="roundRect">
            <a:avLst>
              <a:gd name="adj" fmla="val 5455"/>
            </a:avLst>
          </a:prstGeom>
          <a:solidFill>
            <a:schemeClr val="bg2"/>
          </a:solidFill>
          <a:ln w="12700">
            <a:solidFill>
              <a:schemeClr val="bg2"/>
            </a:solidFill>
            <a:prstDash val="solid"/>
          </a:ln>
        </p:spPr>
      </p:sp>
      <p:sp>
        <p:nvSpPr>
          <p:cNvPr id="22" name="Step 4 badge"/>
          <p:cNvSpPr/>
          <p:nvPr/>
        </p:nvSpPr>
        <p:spPr>
          <a:xfrm>
            <a:off x="7580376" y="1783080"/>
            <a:ext cx="457200" cy="457200"/>
          </a:xfrm>
          <a:prstGeom prst="ellipse">
            <a:avLst/>
          </a:prstGeom>
          <a:solidFill>
            <a:schemeClr val="accent2"/>
          </a:solidFill>
          <a:ln w="12700">
            <a:solidFill>
              <a:schemeClr val="accent2"/>
            </a:solidFill>
            <a:prstDash val="solid"/>
          </a:ln>
        </p:spPr>
      </p:sp>
      <p:sp>
        <p:nvSpPr>
          <p:cNvPr id="23" name="Text 21"/>
          <p:cNvSpPr txBox="1"/>
          <p:nvPr/>
        </p:nvSpPr>
        <p:spPr>
          <a:xfrm>
            <a:off x="7580376"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7580376" y="2377440"/>
            <a:ext cx="1554480" cy="365760"/>
          </a:xfrm>
          <a:prstGeom prst="rect">
            <a:avLst/>
          </a:prstGeom>
          <a:noFill/>
          <a:ln/>
        </p:spPr>
        <p:txBody>
          <a:bodyPr wrap="square" lIns="0" tIns="0" rIns="0" bIns="0" rtlCol="0" anchor="t"/>
          <a:lstStyle/>
          <a:p>
            <a:pPr indent="0" marL="0">
              <a:buNone/>
            </a:pPr>
            <a:r>
              <a:rPr lang="en-US" sz="2000" b="1" dirty="0">
                <a:solidFill>
                  <a:schemeClr val="tx1"/>
                </a:solidFill>
              </a:rPr>
              <a:t>Measure</a:t>
            </a:r>
            <a:endParaRPr lang="en-US" sz="2000" dirty="0"/>
          </a:p>
        </p:txBody>
      </p:sp>
      <p:sp>
        <p:nvSpPr>
          <p:cNvPr id="25" name="Text 23"/>
          <p:cNvSpPr txBox="1"/>
          <p:nvPr/>
        </p:nvSpPr>
        <p:spPr>
          <a:xfrm>
            <a:off x="7580376" y="2788920"/>
            <a:ext cx="1554480" cy="777240"/>
          </a:xfrm>
          <a:prstGeom prst="rect">
            <a:avLst/>
          </a:prstGeom>
          <a:noFill/>
          <a:ln/>
        </p:spPr>
        <p:txBody>
          <a:bodyPr wrap="square" lIns="0" tIns="0" rIns="0" bIns="0" rtlCol="0" anchor="t"/>
          <a:lstStyle/>
          <a:p>
            <a:pPr indent="0" marL="0">
              <a:buNone/>
            </a:pPr>
            <a:r>
              <a:rPr lang="en-US" sz="1400" dirty="0">
                <a:solidFill>
                  <a:schemeClr val="tx2"/>
                </a:solidFill>
              </a:rPr>
              <a:t>Occupancy, line crossings, dwell, zones, segments</a:t>
            </a:r>
            <a:endParaRPr lang="en-US" sz="1400" dirty="0"/>
          </a:p>
        </p:txBody>
      </p:sp>
      <p:sp>
        <p:nvSpPr>
          <p:cNvPr id="26" name="Text 24"/>
          <p:cNvSpPr txBox="1"/>
          <p:nvPr/>
        </p:nvSpPr>
        <p:spPr>
          <a:xfrm>
            <a:off x="9363456" y="2331720"/>
            <a:ext cx="256032" cy="45720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27" name="Step 5 card"/>
          <p:cNvSpPr/>
          <p:nvPr/>
        </p:nvSpPr>
        <p:spPr>
          <a:xfrm>
            <a:off x="9619488" y="1554480"/>
            <a:ext cx="2011680" cy="2103120"/>
          </a:xfrm>
          <a:prstGeom prst="roundRect">
            <a:avLst>
              <a:gd name="adj" fmla="val 5455"/>
            </a:avLst>
          </a:prstGeom>
          <a:solidFill>
            <a:schemeClr val="bg2"/>
          </a:solidFill>
          <a:ln w="12700">
            <a:solidFill>
              <a:schemeClr val="bg2"/>
            </a:solidFill>
            <a:prstDash val="solid"/>
          </a:ln>
        </p:spPr>
      </p:sp>
      <p:sp>
        <p:nvSpPr>
          <p:cNvPr id="28" name="Step 5 badge"/>
          <p:cNvSpPr/>
          <p:nvPr/>
        </p:nvSpPr>
        <p:spPr>
          <a:xfrm>
            <a:off x="9848088" y="1783080"/>
            <a:ext cx="457200" cy="457200"/>
          </a:xfrm>
          <a:prstGeom prst="ellipse">
            <a:avLst/>
          </a:prstGeom>
          <a:solidFill>
            <a:schemeClr val="accent2"/>
          </a:solidFill>
          <a:ln w="12700">
            <a:solidFill>
              <a:schemeClr val="accent2"/>
            </a:solidFill>
            <a:prstDash val="solid"/>
          </a:ln>
        </p:spPr>
      </p:sp>
      <p:sp>
        <p:nvSpPr>
          <p:cNvPr id="29" name="Text 27"/>
          <p:cNvSpPr txBox="1"/>
          <p:nvPr/>
        </p:nvSpPr>
        <p:spPr>
          <a:xfrm>
            <a:off x="9848088"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 28"/>
          <p:cNvSpPr txBox="1"/>
          <p:nvPr/>
        </p:nvSpPr>
        <p:spPr>
          <a:xfrm>
            <a:off x="9848088" y="2377440"/>
            <a:ext cx="1554480" cy="365760"/>
          </a:xfrm>
          <a:prstGeom prst="rect">
            <a:avLst/>
          </a:prstGeom>
          <a:noFill/>
          <a:ln/>
        </p:spPr>
        <p:txBody>
          <a:bodyPr wrap="square" lIns="0" tIns="0" rIns="0" bIns="0" rtlCol="0" anchor="t"/>
          <a:lstStyle/>
          <a:p>
            <a:pPr indent="0" marL="0">
              <a:buNone/>
            </a:pPr>
            <a:r>
              <a:rPr lang="en-US" sz="2000" b="1" dirty="0">
                <a:solidFill>
                  <a:schemeClr val="tx1"/>
                </a:solidFill>
              </a:rPr>
              <a:t>Store</a:t>
            </a:r>
            <a:endParaRPr lang="en-US" sz="2000" dirty="0"/>
          </a:p>
        </p:txBody>
      </p:sp>
      <p:sp>
        <p:nvSpPr>
          <p:cNvPr id="31" name="Text 29"/>
          <p:cNvSpPr txBox="1"/>
          <p:nvPr/>
        </p:nvSpPr>
        <p:spPr>
          <a:xfrm>
            <a:off x="9848088" y="2788920"/>
            <a:ext cx="1554480" cy="777240"/>
          </a:xfrm>
          <a:prstGeom prst="rect">
            <a:avLst/>
          </a:prstGeom>
          <a:noFill/>
          <a:ln/>
        </p:spPr>
        <p:txBody>
          <a:bodyPr wrap="square" lIns="0" tIns="0" rIns="0" bIns="0" rtlCol="0" anchor="t"/>
          <a:lstStyle/>
          <a:p>
            <a:pPr indent="0" marL="0">
              <a:buNone/>
            </a:pPr>
            <a:r>
              <a:rPr lang="en-US" sz="1400" dirty="0">
                <a:solidFill>
                  <a:schemeClr val="tx2"/>
                </a:solidFill>
              </a:rPr>
              <a:t>SQLite database; background job queue</a:t>
            </a:r>
            <a:endParaRPr lang="en-US" sz="1400" dirty="0"/>
          </a:p>
        </p:txBody>
      </p:sp>
      <p:sp>
        <p:nvSpPr>
          <p:cNvPr id="32" name="Forecast card"/>
          <p:cNvSpPr/>
          <p:nvPr/>
        </p:nvSpPr>
        <p:spPr>
          <a:xfrm>
            <a:off x="7351776" y="4206240"/>
            <a:ext cx="2011680" cy="1828800"/>
          </a:xfrm>
          <a:prstGeom prst="roundRect">
            <a:avLst>
              <a:gd name="adj" fmla="val 6000"/>
            </a:avLst>
          </a:prstGeom>
          <a:solidFill>
            <a:schemeClr val="bg2"/>
          </a:solidFill>
          <a:ln w="12700">
            <a:solidFill>
              <a:schemeClr val="bg2"/>
            </a:solidFill>
            <a:prstDash val="solid"/>
          </a:ln>
        </p:spPr>
      </p:sp>
      <p:sp>
        <p:nvSpPr>
          <p:cNvPr id="33" name="Text 31"/>
          <p:cNvSpPr txBox="1"/>
          <p:nvPr/>
        </p:nvSpPr>
        <p:spPr>
          <a:xfrm>
            <a:off x="7580376" y="4434840"/>
            <a:ext cx="1554480" cy="365760"/>
          </a:xfrm>
          <a:prstGeom prst="rect">
            <a:avLst/>
          </a:prstGeom>
          <a:noFill/>
          <a:ln/>
        </p:spPr>
        <p:txBody>
          <a:bodyPr wrap="square" lIns="0" tIns="0" rIns="0" bIns="0" rtlCol="0" anchor="t"/>
          <a:lstStyle/>
          <a:p>
            <a:pPr indent="0" marL="0">
              <a:buNone/>
            </a:pPr>
            <a:r>
              <a:rPr lang="en-US" sz="2000" b="1" dirty="0">
                <a:solidFill>
                  <a:schemeClr val="accent2"/>
                </a:solidFill>
              </a:rPr>
              <a:t>Forecast</a:t>
            </a:r>
            <a:endParaRPr lang="en-US" sz="2000" dirty="0"/>
          </a:p>
        </p:txBody>
      </p:sp>
      <p:sp>
        <p:nvSpPr>
          <p:cNvPr id="34" name="Text 32"/>
          <p:cNvSpPr txBox="1"/>
          <p:nvPr/>
        </p:nvSpPr>
        <p:spPr>
          <a:xfrm>
            <a:off x="7580376" y="4892040"/>
            <a:ext cx="1554480" cy="1051560"/>
          </a:xfrm>
          <a:prstGeom prst="rect">
            <a:avLst/>
          </a:prstGeom>
          <a:noFill/>
          <a:ln/>
        </p:spPr>
        <p:txBody>
          <a:bodyPr wrap="square" lIns="0" tIns="0" rIns="0" bIns="0" rtlCol="0" anchor="t"/>
          <a:lstStyle/>
          <a:p>
            <a:pPr indent="0" marL="0">
              <a:buNone/>
            </a:pPr>
            <a:r>
              <a:rPr lang="en-US" sz="1400" dirty="0">
                <a:solidFill>
                  <a:schemeClr val="tx2"/>
                </a:solidFill>
              </a:rPr>
              <a:t>PyTorch LSTM, used only when a backtest shows it beats a simple baseline</a:t>
            </a:r>
            <a:endParaRPr lang="en-US" sz="1400" dirty="0"/>
          </a:p>
        </p:txBody>
      </p:sp>
      <p:sp>
        <p:nvSpPr>
          <p:cNvPr id="35" name="Ask card"/>
          <p:cNvSpPr/>
          <p:nvPr/>
        </p:nvSpPr>
        <p:spPr>
          <a:xfrm>
            <a:off x="9619488" y="4206240"/>
            <a:ext cx="2011680" cy="1828800"/>
          </a:xfrm>
          <a:prstGeom prst="roundRect">
            <a:avLst>
              <a:gd name="adj" fmla="val 6000"/>
            </a:avLst>
          </a:prstGeom>
          <a:solidFill>
            <a:schemeClr val="bg2"/>
          </a:solidFill>
          <a:ln w="12700">
            <a:solidFill>
              <a:schemeClr val="bg2"/>
            </a:solidFill>
            <a:prstDash val="solid"/>
          </a:ln>
        </p:spPr>
      </p:sp>
      <p:sp>
        <p:nvSpPr>
          <p:cNvPr id="36" name="Text 34"/>
          <p:cNvSpPr txBox="1"/>
          <p:nvPr/>
        </p:nvSpPr>
        <p:spPr>
          <a:xfrm>
            <a:off x="9848088" y="4434840"/>
            <a:ext cx="1554480" cy="365760"/>
          </a:xfrm>
          <a:prstGeom prst="rect">
            <a:avLst/>
          </a:prstGeom>
          <a:noFill/>
          <a:ln/>
        </p:spPr>
        <p:txBody>
          <a:bodyPr wrap="square" lIns="0" tIns="0" rIns="0" bIns="0" rtlCol="0" anchor="t"/>
          <a:lstStyle/>
          <a:p>
            <a:pPr indent="0" marL="0">
              <a:buNone/>
            </a:pPr>
            <a:r>
              <a:rPr lang="en-US" sz="2000" b="1" dirty="0">
                <a:solidFill>
                  <a:schemeClr val="accent2"/>
                </a:solidFill>
              </a:rPr>
              <a:t>Ask</a:t>
            </a:r>
            <a:endParaRPr lang="en-US" sz="2000" dirty="0"/>
          </a:p>
        </p:txBody>
      </p:sp>
      <p:sp>
        <p:nvSpPr>
          <p:cNvPr id="37" name="Text 35"/>
          <p:cNvSpPr txBox="1"/>
          <p:nvPr/>
        </p:nvSpPr>
        <p:spPr>
          <a:xfrm>
            <a:off x="9848088" y="4892040"/>
            <a:ext cx="1554480" cy="1051560"/>
          </a:xfrm>
          <a:prstGeom prst="rect">
            <a:avLst/>
          </a:prstGeom>
          <a:noFill/>
          <a:ln/>
        </p:spPr>
        <p:txBody>
          <a:bodyPr wrap="square" lIns="0" tIns="0" rIns="0" bIns="0" rtlCol="0" anchor="t"/>
          <a:lstStyle/>
          <a:p>
            <a:pPr indent="0" marL="0">
              <a:buNone/>
            </a:pPr>
            <a:r>
              <a:rPr lang="en-US" sz="1400" dirty="0">
                <a:solidFill>
                  <a:schemeClr val="tx2"/>
                </a:solidFill>
              </a:rPr>
              <a:t>Local Qwen model writes SQL over the data and explains the answer</a:t>
            </a:r>
            <a:endParaRPr lang="en-US" sz="1400" dirty="0"/>
          </a:p>
        </p:txBody>
      </p:sp>
      <p:sp>
        <p:nvSpPr>
          <p:cNvPr id="38" name="Text 36"/>
          <p:cNvSpPr txBox="1"/>
          <p:nvPr/>
        </p:nvSpPr>
        <p:spPr>
          <a:xfrm>
            <a:off x="548640" y="4206240"/>
            <a:ext cx="6035040" cy="1280160"/>
          </a:xfrm>
          <a:prstGeom prst="rect">
            <a:avLst/>
          </a:prstGeom>
          <a:noFill/>
          <a:ln/>
        </p:spPr>
        <p:txBody>
          <a:bodyPr wrap="square" lIns="0" tIns="0" rIns="0" bIns="0" rtlCol="0" anchor="t"/>
          <a:lstStyle/>
          <a:p>
            <a:pPr indent="0" marL="0">
              <a:buNone/>
            </a:pPr>
            <a:r>
              <a:rPr lang="en-US" sz="1800" b="1" dirty="0">
                <a:solidFill>
                  <a:schemeClr val="tx1"/>
                </a:solidFill>
              </a:rPr>
              <a:t>Everything runs on one laptop.</a:t>
            </a:r>
            <a:endParaRPr lang="en-US" sz="1800" dirty="0"/>
          </a:p>
          <a:p>
            <a:pPr indent="0" marL="0">
              <a:buNone/>
            </a:pPr>
            <a:r>
              <a:rPr lang="en-US" sz="1800" dirty="0">
                <a:solidFill>
                  <a:schemeClr val="tx1"/>
                </a:solidFill>
              </a:rPr>
              <a:t>Models download once, then work offline (tested on Apple GPU, falls back to CPU).</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Seeing it work on real mall CCTV</a:t>
            </a:r>
            <a:endParaRPr lang="en-US" sz="3600" dirty="0"/>
          </a:p>
        </p:txBody>
      </p:sp>
      <p:pic>
        <p:nvPicPr>
          <p:cNvPr id="3" name="Annotated demo frame" descr="Mall CCTV with person boxes, IDs, a yellow counting line and live counters">    </p:cNvPr>
          <p:cNvPicPr>
            <a:picLocks noChangeAspect="1"/>
          </p:cNvPicPr>
          <p:nvPr/>
        </p:nvPicPr>
        <p:blipFill>
          <a:blip r:embed="rId1"/>
          <a:stretch>
            <a:fillRect/>
          </a:stretch>
        </p:blipFill>
        <p:spPr>
          <a:xfrm>
            <a:off x="548640" y="1417320"/>
            <a:ext cx="6035040" cy="4526280"/>
          </a:xfrm>
          <a:prstGeom prst="rect">
            <a:avLst/>
          </a:prstGeom>
        </p:spPr>
      </p:pic>
      <p:sp>
        <p:nvSpPr>
          <p:cNvPr id="4" name="Legend dot 1"/>
          <p:cNvSpPr/>
          <p:nvPr/>
        </p:nvSpPr>
        <p:spPr>
          <a:xfrm>
            <a:off x="7040880" y="1517904"/>
            <a:ext cx="256032" cy="256032"/>
          </a:xfrm>
          <a:prstGeom prst="ellipse">
            <a:avLst/>
          </a:prstGeom>
          <a:solidFill>
            <a:schemeClr val="accent6"/>
          </a:solidFill>
          <a:ln w="12700">
            <a:solidFill>
              <a:schemeClr val="accent6"/>
            </a:solidFill>
            <a:prstDash val="solid"/>
          </a:ln>
        </p:spPr>
      </p:sp>
      <p:sp>
        <p:nvSpPr>
          <p:cNvPr id="5" name="Text 2"/>
          <p:cNvSpPr txBox="1"/>
          <p:nvPr/>
        </p:nvSpPr>
        <p:spPr>
          <a:xfrm>
            <a:off x="7498080" y="1463040"/>
            <a:ext cx="4142232" cy="731520"/>
          </a:xfrm>
          <a:prstGeom prst="rect">
            <a:avLst/>
          </a:prstGeom>
          <a:noFill/>
          <a:ln/>
        </p:spPr>
        <p:txBody>
          <a:bodyPr wrap="square" lIns="0" tIns="0" rIns="0" bIns="0" rtlCol="0" anchor="t"/>
          <a:lstStyle/>
          <a:p>
            <a:pPr indent="0" marL="0">
              <a:buNone/>
            </a:pPr>
            <a:r>
              <a:rPr lang="en-US" sz="1600" b="1" dirty="0">
                <a:solidFill>
                  <a:schemeClr val="tx1"/>
                </a:solidFill>
              </a:rPr>
              <a:t>Green box + number</a:t>
            </a:r>
            <a:endParaRPr lang="en-US" sz="1600" dirty="0"/>
          </a:p>
          <a:p>
            <a:pPr indent="0" marL="0">
              <a:buNone/>
            </a:pPr>
            <a:r>
              <a:rPr lang="en-US" sz="1600" dirty="0">
                <a:solidFill>
                  <a:schemeClr val="tx2"/>
                </a:solidFill>
              </a:rPr>
              <a:t>a tracked person and their ID</a:t>
            </a:r>
            <a:endParaRPr lang="en-US" sz="1600" dirty="0"/>
          </a:p>
        </p:txBody>
      </p:sp>
      <p:sp>
        <p:nvSpPr>
          <p:cNvPr id="6" name="Legend dot 2"/>
          <p:cNvSpPr/>
          <p:nvPr/>
        </p:nvSpPr>
        <p:spPr>
          <a:xfrm>
            <a:off x="7040880" y="2386584"/>
            <a:ext cx="256032" cy="256032"/>
          </a:xfrm>
          <a:prstGeom prst="ellipse">
            <a:avLst/>
          </a:prstGeom>
          <a:solidFill>
            <a:schemeClr val="tx2"/>
          </a:solidFill>
          <a:ln w="12700">
            <a:solidFill>
              <a:schemeClr val="tx2"/>
            </a:solidFill>
            <a:prstDash val="solid"/>
          </a:ln>
        </p:spPr>
      </p:sp>
      <p:sp>
        <p:nvSpPr>
          <p:cNvPr id="7" name="Text 4"/>
          <p:cNvSpPr txBox="1"/>
          <p:nvPr/>
        </p:nvSpPr>
        <p:spPr>
          <a:xfrm>
            <a:off x="7498080" y="2331720"/>
            <a:ext cx="4142232" cy="731520"/>
          </a:xfrm>
          <a:prstGeom prst="rect">
            <a:avLst/>
          </a:prstGeom>
          <a:noFill/>
          <a:ln/>
        </p:spPr>
        <p:txBody>
          <a:bodyPr wrap="square" lIns="0" tIns="0" rIns="0" bIns="0" rtlCol="0" anchor="t"/>
          <a:lstStyle/>
          <a:p>
            <a:pPr indent="0" marL="0">
              <a:buNone/>
            </a:pPr>
            <a:r>
              <a:rPr lang="en-US" sz="1600" b="1" dirty="0">
                <a:solidFill>
                  <a:schemeClr val="tx1"/>
                </a:solidFill>
              </a:rPr>
              <a:t>White box</a:t>
            </a:r>
            <a:endParaRPr lang="en-US" sz="1600" dirty="0"/>
          </a:p>
          <a:p>
            <a:pPr indent="0" marL="0">
              <a:buNone/>
            </a:pPr>
            <a:r>
              <a:rPr lang="en-US" sz="1600" dirty="0">
                <a:solidFill>
                  <a:schemeClr val="tx2"/>
                </a:solidFill>
              </a:rPr>
              <a:t>a raw detection not yet confirmed as a track</a:t>
            </a:r>
            <a:endParaRPr lang="en-US" sz="1600" dirty="0"/>
          </a:p>
        </p:txBody>
      </p:sp>
      <p:sp>
        <p:nvSpPr>
          <p:cNvPr id="8" name="Legend dot 3"/>
          <p:cNvSpPr/>
          <p:nvPr/>
        </p:nvSpPr>
        <p:spPr>
          <a:xfrm>
            <a:off x="7040880" y="3255264"/>
            <a:ext cx="256032" cy="256032"/>
          </a:xfrm>
          <a:prstGeom prst="ellipse">
            <a:avLst/>
          </a:prstGeom>
          <a:solidFill>
            <a:schemeClr val="accent1"/>
          </a:solidFill>
          <a:ln w="12700">
            <a:solidFill>
              <a:schemeClr val="accent1"/>
            </a:solidFill>
            <a:prstDash val="solid"/>
          </a:ln>
        </p:spPr>
      </p:sp>
      <p:sp>
        <p:nvSpPr>
          <p:cNvPr id="9" name="Text 6"/>
          <p:cNvSpPr txBox="1"/>
          <p:nvPr/>
        </p:nvSpPr>
        <p:spPr>
          <a:xfrm>
            <a:off x="7498080" y="3200400"/>
            <a:ext cx="4142232" cy="731520"/>
          </a:xfrm>
          <a:prstGeom prst="rect">
            <a:avLst/>
          </a:prstGeom>
          <a:noFill/>
          <a:ln/>
        </p:spPr>
        <p:txBody>
          <a:bodyPr wrap="square" lIns="0" tIns="0" rIns="0" bIns="0" rtlCol="0" anchor="t"/>
          <a:lstStyle/>
          <a:p>
            <a:pPr indent="0" marL="0">
              <a:buNone/>
            </a:pPr>
            <a:r>
              <a:rPr lang="en-US" sz="1600" b="1" dirty="0">
                <a:solidFill>
                  <a:schemeClr val="tx1"/>
                </a:solidFill>
              </a:rPr>
              <a:t>Yellow line</a:t>
            </a:r>
            <a:endParaRPr lang="en-US" sz="1600" dirty="0"/>
          </a:p>
          <a:p>
            <a:pPr indent="0" marL="0">
              <a:buNone/>
            </a:pPr>
            <a:r>
              <a:rPr lang="en-US" sz="1600" dirty="0">
                <a:solidFill>
                  <a:schemeClr val="tx2"/>
                </a:solidFill>
              </a:rPr>
              <a:t>the entrance counting line</a:t>
            </a:r>
            <a:endParaRPr lang="en-US" sz="1600" dirty="0"/>
          </a:p>
        </p:txBody>
      </p:sp>
      <p:sp>
        <p:nvSpPr>
          <p:cNvPr id="10" name="Legend dot 4"/>
          <p:cNvSpPr/>
          <p:nvPr/>
        </p:nvSpPr>
        <p:spPr>
          <a:xfrm>
            <a:off x="7040880" y="4123944"/>
            <a:ext cx="256032" cy="256032"/>
          </a:xfrm>
          <a:prstGeom prst="ellipse">
            <a:avLst/>
          </a:prstGeom>
          <a:solidFill>
            <a:schemeClr val="accent4"/>
          </a:solidFill>
          <a:ln w="12700">
            <a:solidFill>
              <a:schemeClr val="accent4"/>
            </a:solidFill>
            <a:prstDash val="solid"/>
          </a:ln>
        </p:spPr>
      </p:sp>
      <p:sp>
        <p:nvSpPr>
          <p:cNvPr id="11" name="Text 8"/>
          <p:cNvSpPr txBox="1"/>
          <p:nvPr/>
        </p:nvSpPr>
        <p:spPr>
          <a:xfrm>
            <a:off x="7498080" y="4069080"/>
            <a:ext cx="4142232" cy="731520"/>
          </a:xfrm>
          <a:prstGeom prst="rect">
            <a:avLst/>
          </a:prstGeom>
          <a:noFill/>
          <a:ln/>
        </p:spPr>
        <p:txBody>
          <a:bodyPr wrap="square" lIns="0" tIns="0" rIns="0" bIns="0" rtlCol="0" anchor="t"/>
          <a:lstStyle/>
          <a:p>
            <a:pPr indent="0" marL="0">
              <a:buNone/>
            </a:pPr>
            <a:r>
              <a:rPr lang="en-US" sz="1600" b="1" dirty="0">
                <a:solidFill>
                  <a:schemeClr val="tx1"/>
                </a:solidFill>
              </a:rPr>
              <a:t>Top bar</a:t>
            </a:r>
            <a:endParaRPr lang="en-US" sz="1600" dirty="0"/>
          </a:p>
          <a:p>
            <a:pPr indent="0" marL="0">
              <a:buNone/>
            </a:pPr>
            <a:r>
              <a:rPr lang="en-US" sz="1600" dirty="0">
                <a:solidFill>
                  <a:schemeClr val="tx2"/>
                </a:solidFill>
              </a:rPr>
              <a:t>live occupancy and in/out counts</a:t>
            </a:r>
            <a:endParaRPr lang="en-US" sz="1600" dirty="0"/>
          </a:p>
        </p:txBody>
      </p:sp>
      <p:sp>
        <p:nvSpPr>
          <p:cNvPr id="12" name="Match card"/>
          <p:cNvSpPr/>
          <p:nvPr/>
        </p:nvSpPr>
        <p:spPr>
          <a:xfrm>
            <a:off x="7040880" y="4983480"/>
            <a:ext cx="4599432" cy="960120"/>
          </a:xfrm>
          <a:prstGeom prst="roundRect">
            <a:avLst>
              <a:gd name="adj" fmla="val 11429"/>
            </a:avLst>
          </a:prstGeom>
          <a:solidFill>
            <a:schemeClr val="bg2"/>
          </a:solidFill>
          <a:ln w="12700">
            <a:solidFill>
              <a:schemeClr val="bg2"/>
            </a:solidFill>
            <a:prstDash val="solid"/>
          </a:ln>
        </p:spPr>
      </p:sp>
      <p:sp>
        <p:nvSpPr>
          <p:cNvPr id="13" name="Text 10"/>
          <p:cNvSpPr txBox="1"/>
          <p:nvPr/>
        </p:nvSpPr>
        <p:spPr>
          <a:xfrm>
            <a:off x="7315200" y="5074920"/>
            <a:ext cx="4050792" cy="777240"/>
          </a:xfrm>
          <a:prstGeom prst="rect">
            <a:avLst/>
          </a:prstGeom>
          <a:noFill/>
          <a:ln/>
        </p:spPr>
        <p:txBody>
          <a:bodyPr wrap="square" lIns="0" tIns="0" rIns="0" bIns="0" rtlCol="0" anchor="ctr"/>
          <a:lstStyle/>
          <a:p>
            <a:pPr indent="0" marL="0">
              <a:buNone/>
            </a:pPr>
            <a:r>
              <a:rPr lang="en-US" sz="1500" dirty="0">
                <a:solidFill>
                  <a:schemeClr val="tx1"/>
                </a:solidFill>
              </a:rPr>
              <a:t>The overlay's 111 in / 66 out matches the pipeline's stored counts exactly.</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Measured accuracy against ground truth</a:t>
            </a:r>
            <a:endParaRPr lang="en-US" sz="3600" dirty="0"/>
          </a:p>
        </p:txBody>
      </p:sp>
      <p:graphicFrame>
        <p:nvGraphicFramePr>
          <p:cNvPr id="3" name="Chart 0" descr=""/>
          <p:cNvGraphicFramePr/>
          <p:nvPr/>
        </p:nvGraphicFramePr>
        <p:xfrm>
          <a:off x="548640" y="1417320"/>
          <a:ext cx="640080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315200" y="1463040"/>
            <a:ext cx="4325112"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27.4</a:t>
            </a:r>
            <a:endParaRPr lang="en-US" sz="4800" dirty="0"/>
          </a:p>
        </p:txBody>
      </p:sp>
      <p:sp>
        <p:nvSpPr>
          <p:cNvPr id="5" name="Text 2"/>
          <p:cNvSpPr txBox="1"/>
          <p:nvPr/>
        </p:nvSpPr>
        <p:spPr>
          <a:xfrm>
            <a:off x="7315200" y="2286000"/>
            <a:ext cx="4325112" cy="640080"/>
          </a:xfrm>
          <a:prstGeom prst="rect">
            <a:avLst/>
          </a:prstGeom>
          <a:noFill/>
          <a:ln/>
        </p:spPr>
        <p:txBody>
          <a:bodyPr wrap="square" lIns="0" tIns="0" rIns="0" bIns="0" rtlCol="0" anchor="t"/>
          <a:lstStyle/>
          <a:p>
            <a:pPr indent="0" marL="0">
              <a:buNone/>
            </a:pPr>
            <a:r>
              <a:rPr lang="en-US" sz="1400" dirty="0">
                <a:solidFill>
                  <a:schemeClr val="tx2"/>
                </a:solidFill>
              </a:rPr>
              <a:t>mean occupancy on the full 2,000-frame video (truth: 31.2)</a:t>
            </a:r>
            <a:endParaRPr lang="en-US" sz="1400" dirty="0"/>
          </a:p>
        </p:txBody>
      </p:sp>
      <p:sp>
        <p:nvSpPr>
          <p:cNvPr id="6" name="Text 3"/>
          <p:cNvSpPr txBox="1"/>
          <p:nvPr/>
        </p:nvSpPr>
        <p:spPr>
          <a:xfrm>
            <a:off x="7315200" y="3017520"/>
            <a:ext cx="4325112"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46</a:t>
            </a:r>
            <a:endParaRPr lang="en-US" sz="4800" dirty="0"/>
          </a:p>
        </p:txBody>
      </p:sp>
      <p:sp>
        <p:nvSpPr>
          <p:cNvPr id="7" name="Text 4"/>
          <p:cNvSpPr txBox="1"/>
          <p:nvPr/>
        </p:nvSpPr>
        <p:spPr>
          <a:xfrm>
            <a:off x="7315200" y="3840480"/>
            <a:ext cx="4325112" cy="640080"/>
          </a:xfrm>
          <a:prstGeom prst="rect">
            <a:avLst/>
          </a:prstGeom>
          <a:noFill/>
          <a:ln/>
        </p:spPr>
        <p:txBody>
          <a:bodyPr wrap="square" lIns="0" tIns="0" rIns="0" bIns="0" rtlCol="0" anchor="t"/>
          <a:lstStyle/>
          <a:p>
            <a:pPr indent="0" marL="0">
              <a:buNone/>
            </a:pPr>
            <a:r>
              <a:rPr lang="en-US" sz="1400" dirty="0">
                <a:solidFill>
                  <a:schemeClr val="tx2"/>
                </a:solidFill>
              </a:rPr>
              <a:t>peak occupancy (truth: 53)</a:t>
            </a:r>
            <a:endParaRPr lang="en-US" sz="1400" dirty="0"/>
          </a:p>
        </p:txBody>
      </p:sp>
      <p:sp>
        <p:nvSpPr>
          <p:cNvPr id="8" name="Text 5"/>
          <p:cNvSpPr txBox="1"/>
          <p:nvPr/>
        </p:nvSpPr>
        <p:spPr>
          <a:xfrm>
            <a:off x="7315200" y="4572000"/>
            <a:ext cx="4325112"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~90%</a:t>
            </a:r>
            <a:endParaRPr lang="en-US" sz="4800" dirty="0"/>
          </a:p>
        </p:txBody>
      </p:sp>
      <p:sp>
        <p:nvSpPr>
          <p:cNvPr id="9" name="Text 6"/>
          <p:cNvSpPr txBox="1"/>
          <p:nvPr/>
        </p:nvSpPr>
        <p:spPr>
          <a:xfrm>
            <a:off x="7315200" y="5394960"/>
            <a:ext cx="4325112" cy="640080"/>
          </a:xfrm>
          <a:prstGeom prst="rect">
            <a:avLst/>
          </a:prstGeom>
          <a:noFill/>
          <a:ln/>
        </p:spPr>
        <p:txBody>
          <a:bodyPr wrap="square" lIns="0" tIns="0" rIns="0" bIns="0" rtlCol="0" anchor="t"/>
          <a:lstStyle/>
          <a:p>
            <a:pPr indent="0" marL="0">
              <a:buNone/>
            </a:pPr>
            <a:r>
              <a:rPr lang="en-US" sz="1400" dirty="0">
                <a:solidFill>
                  <a:schemeClr val="tx2"/>
                </a:solidFill>
              </a:rPr>
              <a:t>of unseen-wording questions answered correctly by the local analyst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The dashboard</a:t>
            </a:r>
            <a:endParaRPr lang="en-US" sz="3600" dirty="0"/>
          </a:p>
        </p:txBody>
      </p:sp>
      <p:pic>
        <p:nvPicPr>
          <p:cNvPr id="3" name="Dashboard screenshot" descr="RetailVision dashboard showing KPI cards">    </p:cNvPr>
          <p:cNvPicPr>
            <a:picLocks noChangeAspect="1"/>
          </p:cNvPicPr>
          <p:nvPr/>
        </p:nvPicPr>
        <p:blipFill>
          <a:blip r:embed="rId1"/>
          <a:stretch>
            <a:fillRect/>
          </a:stretch>
        </p:blipFill>
        <p:spPr>
          <a:xfrm>
            <a:off x="5760720" y="1417320"/>
            <a:ext cx="5879592" cy="4407408"/>
          </a:xfrm>
          <a:prstGeom prst="rect">
            <a:avLst/>
          </a:prstGeom>
        </p:spPr>
      </p:pic>
      <p:sp>
        <p:nvSpPr>
          <p:cNvPr id="4" name="Text 1"/>
          <p:cNvSpPr txBox="1"/>
          <p:nvPr/>
        </p:nvSpPr>
        <p:spPr>
          <a:xfrm>
            <a:off x="548640" y="1554480"/>
            <a:ext cx="4846320" cy="42062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Upload a clip: it runs as a background job that survives restarts</a:t>
            </a:r>
            <a:endParaRPr lang="en-US" sz="1800" dirty="0"/>
          </a:p>
          <a:p>
            <a:pPr marL="342900" indent="-342900">
              <a:spcAft>
                <a:spcPts val="1200"/>
              </a:spcAft>
              <a:buSzPct val="100000"/>
              <a:buChar char="•"/>
            </a:pPr>
            <a:r>
              <a:rPr lang="en-US" sz="1800" dirty="0">
                <a:solidFill>
                  <a:schemeClr val="tx1"/>
                </a:solidFill>
              </a:rPr>
              <a:t>KPIs: people tracked (estimate), dwell time, mean and peak occupancy, entrance in/out</a:t>
            </a:r>
            <a:endParaRPr lang="en-US" sz="1800" dirty="0"/>
          </a:p>
          <a:p>
            <a:pPr marL="342900" indent="-342900">
              <a:spcAft>
                <a:spcPts val="1200"/>
              </a:spcAft>
              <a:buSzPct val="100000"/>
              <a:buChar char="•"/>
            </a:pPr>
            <a:r>
              <a:rPr lang="en-US" sz="1800" dirty="0">
                <a:solidFill>
                  <a:schemeClr val="tx1"/>
                </a:solidFill>
              </a:rPr>
              <a:t>3×3 zone heat-map of where people spend time</a:t>
            </a:r>
            <a:endParaRPr lang="en-US" sz="1800" dirty="0"/>
          </a:p>
          <a:p>
            <a:pPr marL="342900" indent="-342900">
              <a:spcAft>
                <a:spcPts val="1200"/>
              </a:spcAft>
              <a:buSzPct val="100000"/>
              <a:buChar char="•"/>
            </a:pPr>
            <a:r>
              <a:rPr lang="en-US" sz="1800" dirty="0">
                <a:solidFill>
                  <a:schemeClr val="tx1"/>
                </a:solidFill>
              </a:rPr>
              <a:t>Shopper behaviour groups: passer-by, browser, engaged</a:t>
            </a:r>
            <a:endParaRPr lang="en-US" sz="1800" dirty="0"/>
          </a:p>
          <a:p>
            <a:pPr marL="342900" indent="-342900">
              <a:spcAft>
                <a:spcPts val="1200"/>
              </a:spcAft>
              <a:buSzPct val="100000"/>
              <a:buChar char="•"/>
            </a:pPr>
            <a:r>
              <a:rPr lang="en-US" sz="1800" dirty="0">
                <a:solidFill>
                  <a:schemeClr val="tx1"/>
                </a:solidFill>
              </a:rPr>
              <a:t>Draw counting lines per camera, set retention, and delete data</a:t>
            </a:r>
            <a:endParaRPr lang="en-US" sz="1800" dirty="0"/>
          </a:p>
          <a:p>
            <a:pPr marL="342900" indent="-342900">
              <a:spcAft>
                <a:spcPts val="1200"/>
              </a:spcAft>
              <a:buSzPct val="100000"/>
              <a:buChar char="•"/>
            </a:pPr>
            <a:r>
              <a:rPr lang="en-US" sz="1800" dirty="0">
                <a:solidFill>
                  <a:schemeClr val="tx1"/>
                </a:solidFill>
              </a:rPr>
              <a:t>Ask-the-analyst box for plain-English questions</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Ask your store a question</a:t>
            </a:r>
            <a:endParaRPr lang="en-US" sz="3600" dirty="0"/>
          </a:p>
        </p:txBody>
      </p:sp>
      <p:sp>
        <p:nvSpPr>
          <p:cNvPr id="3" name="QA card 1"/>
          <p:cNvSpPr/>
          <p:nvPr/>
        </p:nvSpPr>
        <p:spPr>
          <a:xfrm>
            <a:off x="548640" y="1463040"/>
            <a:ext cx="3566160" cy="384048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822960" y="1691640"/>
            <a:ext cx="3017520" cy="274320"/>
          </a:xfrm>
          <a:prstGeom prst="rect">
            <a:avLst/>
          </a:prstGeom>
          <a:noFill/>
          <a:ln/>
        </p:spPr>
        <p:txBody>
          <a:bodyPr wrap="square" lIns="0" tIns="0" rIns="0" bIns="0" rtlCol="0" anchor="t"/>
          <a:lstStyle/>
          <a:p>
            <a:pPr indent="0" marL="0">
              <a:buNone/>
            </a:pPr>
            <a:r>
              <a:rPr lang="en-US" sz="1200" b="1" dirty="0">
                <a:solidFill>
                  <a:schemeClr val="tx2"/>
                </a:solidFill>
              </a:rPr>
              <a:t>Question</a:t>
            </a:r>
            <a:endParaRPr lang="en-US" sz="1200" dirty="0"/>
          </a:p>
        </p:txBody>
      </p:sp>
      <p:sp>
        <p:nvSpPr>
          <p:cNvPr id="5" name="Text 3"/>
          <p:cNvSpPr txBox="1"/>
          <p:nvPr/>
        </p:nvSpPr>
        <p:spPr>
          <a:xfrm>
            <a:off x="822960" y="1965960"/>
            <a:ext cx="3017520" cy="914400"/>
          </a:xfrm>
          <a:prstGeom prst="rect">
            <a:avLst/>
          </a:prstGeom>
          <a:noFill/>
          <a:ln/>
        </p:spPr>
        <p:txBody>
          <a:bodyPr wrap="square" lIns="0" tIns="0" rIns="0" bIns="0" rtlCol="0" anchor="t"/>
          <a:lstStyle/>
          <a:p>
            <a:pPr indent="0" marL="0">
              <a:buNone/>
            </a:pPr>
            <a:r>
              <a:rPr lang="en-US" sz="1800" b="1" dirty="0">
                <a:solidFill>
                  <a:schemeClr val="tx1"/>
                </a:solidFill>
              </a:rPr>
              <a:t>How many people crossed the line going in?</a:t>
            </a:r>
            <a:endParaRPr lang="en-US" sz="1800" dirty="0"/>
          </a:p>
        </p:txBody>
      </p:sp>
      <p:sp>
        <p:nvSpPr>
          <p:cNvPr id="6" name="Text 4"/>
          <p:cNvSpPr txBox="1"/>
          <p:nvPr/>
        </p:nvSpPr>
        <p:spPr>
          <a:xfrm>
            <a:off x="822960" y="2926080"/>
            <a:ext cx="3017520" cy="274320"/>
          </a:xfrm>
          <a:prstGeom prst="rect">
            <a:avLst/>
          </a:prstGeom>
          <a:noFill/>
          <a:ln/>
        </p:spPr>
        <p:txBody>
          <a:bodyPr wrap="square" lIns="0" tIns="0" rIns="0" bIns="0" rtlCol="0" anchor="t"/>
          <a:lstStyle/>
          <a:p>
            <a:pPr indent="0" marL="0">
              <a:buNone/>
            </a:pPr>
            <a:r>
              <a:rPr lang="en-US" sz="1200" b="1" dirty="0">
                <a:solidFill>
                  <a:schemeClr val="accent2"/>
                </a:solidFill>
              </a:rPr>
              <a:t>Answer</a:t>
            </a:r>
            <a:endParaRPr lang="en-US" sz="1200" dirty="0"/>
          </a:p>
        </p:txBody>
      </p:sp>
      <p:sp>
        <p:nvSpPr>
          <p:cNvPr id="7" name="Text 5"/>
          <p:cNvSpPr txBox="1"/>
          <p:nvPr/>
        </p:nvSpPr>
        <p:spPr>
          <a:xfrm>
            <a:off x="822960" y="3200400"/>
            <a:ext cx="3017520" cy="731520"/>
          </a:xfrm>
          <a:prstGeom prst="rect">
            <a:avLst/>
          </a:prstGeom>
          <a:noFill/>
          <a:ln/>
        </p:spPr>
        <p:txBody>
          <a:bodyPr wrap="square" lIns="0" tIns="0" rIns="0" bIns="0" rtlCol="0" anchor="t"/>
          <a:lstStyle/>
          <a:p>
            <a:pPr indent="0" marL="0">
              <a:buNone/>
            </a:pPr>
            <a:r>
              <a:rPr lang="en-US" sz="1800" dirty="0">
                <a:solidFill>
                  <a:schemeClr val="tx1"/>
                </a:solidFill>
              </a:rPr>
              <a:t>583 people crossed the line going in.</a:t>
            </a:r>
            <a:endParaRPr lang="en-US" sz="1800" dirty="0"/>
          </a:p>
        </p:txBody>
      </p:sp>
      <p:sp>
        <p:nvSpPr>
          <p:cNvPr id="8" name="Text 6"/>
          <p:cNvSpPr txBox="1"/>
          <p:nvPr/>
        </p:nvSpPr>
        <p:spPr>
          <a:xfrm>
            <a:off x="822960" y="4206240"/>
            <a:ext cx="3017520" cy="91440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SELECT COUNT(*) FROM crossings WHERE direction = 'in'</a:t>
            </a:r>
            <a:endParaRPr lang="en-US" sz="1100" dirty="0"/>
          </a:p>
        </p:txBody>
      </p:sp>
      <p:sp>
        <p:nvSpPr>
          <p:cNvPr id="9" name="QA card 2"/>
          <p:cNvSpPr/>
          <p:nvPr/>
        </p:nvSpPr>
        <p:spPr>
          <a:xfrm>
            <a:off x="4398264" y="1463040"/>
            <a:ext cx="3566160" cy="3840480"/>
          </a:xfrm>
          <a:prstGeom prst="roundRect">
            <a:avLst>
              <a:gd name="adj" fmla="val 3077"/>
            </a:avLst>
          </a:prstGeom>
          <a:solidFill>
            <a:schemeClr val="bg2"/>
          </a:solidFill>
          <a:ln w="12700">
            <a:solidFill>
              <a:schemeClr val="bg2"/>
            </a:solidFill>
            <a:prstDash val="solid"/>
          </a:ln>
        </p:spPr>
      </p:sp>
      <p:sp>
        <p:nvSpPr>
          <p:cNvPr id="10" name="Text 8"/>
          <p:cNvSpPr txBox="1"/>
          <p:nvPr/>
        </p:nvSpPr>
        <p:spPr>
          <a:xfrm>
            <a:off x="4672584" y="1691640"/>
            <a:ext cx="3017520" cy="274320"/>
          </a:xfrm>
          <a:prstGeom prst="rect">
            <a:avLst/>
          </a:prstGeom>
          <a:noFill/>
          <a:ln/>
        </p:spPr>
        <p:txBody>
          <a:bodyPr wrap="square" lIns="0" tIns="0" rIns="0" bIns="0" rtlCol="0" anchor="t"/>
          <a:lstStyle/>
          <a:p>
            <a:pPr indent="0" marL="0">
              <a:buNone/>
            </a:pPr>
            <a:r>
              <a:rPr lang="en-US" sz="1200" b="1" dirty="0">
                <a:solidFill>
                  <a:schemeClr val="tx2"/>
                </a:solidFill>
              </a:rPr>
              <a:t>Question</a:t>
            </a:r>
            <a:endParaRPr lang="en-US" sz="1200" dirty="0"/>
          </a:p>
        </p:txBody>
      </p:sp>
      <p:sp>
        <p:nvSpPr>
          <p:cNvPr id="11" name="Text 9"/>
          <p:cNvSpPr txBox="1"/>
          <p:nvPr/>
        </p:nvSpPr>
        <p:spPr>
          <a:xfrm>
            <a:off x="4672584" y="1965960"/>
            <a:ext cx="3017520" cy="914400"/>
          </a:xfrm>
          <a:prstGeom prst="rect">
            <a:avLst/>
          </a:prstGeom>
          <a:noFill/>
          <a:ln/>
        </p:spPr>
        <p:txBody>
          <a:bodyPr wrap="square" lIns="0" tIns="0" rIns="0" bIns="0" rtlCol="0" anchor="t"/>
          <a:lstStyle/>
          <a:p>
            <a:pPr indent="0" marL="0">
              <a:buNone/>
            </a:pPr>
            <a:r>
              <a:rPr lang="en-US" sz="1800" b="1" dirty="0">
                <a:solidFill>
                  <a:schemeClr val="tx1"/>
                </a:solidFill>
              </a:rPr>
              <a:t>What is the average dwell time of engaged shoppers?</a:t>
            </a:r>
            <a:endParaRPr lang="en-US" sz="1800" dirty="0"/>
          </a:p>
        </p:txBody>
      </p:sp>
      <p:sp>
        <p:nvSpPr>
          <p:cNvPr id="12" name="Text 10"/>
          <p:cNvSpPr txBox="1"/>
          <p:nvPr/>
        </p:nvSpPr>
        <p:spPr>
          <a:xfrm>
            <a:off x="4672584" y="2926080"/>
            <a:ext cx="3017520" cy="274320"/>
          </a:xfrm>
          <a:prstGeom prst="rect">
            <a:avLst/>
          </a:prstGeom>
          <a:noFill/>
          <a:ln/>
        </p:spPr>
        <p:txBody>
          <a:bodyPr wrap="square" lIns="0" tIns="0" rIns="0" bIns="0" rtlCol="0" anchor="t"/>
          <a:lstStyle/>
          <a:p>
            <a:pPr indent="0" marL="0">
              <a:buNone/>
            </a:pPr>
            <a:r>
              <a:rPr lang="en-US" sz="1200" b="1" dirty="0">
                <a:solidFill>
                  <a:schemeClr val="accent2"/>
                </a:solidFill>
              </a:rPr>
              <a:t>Answer</a:t>
            </a:r>
            <a:endParaRPr lang="en-US" sz="1200" dirty="0"/>
          </a:p>
        </p:txBody>
      </p:sp>
      <p:sp>
        <p:nvSpPr>
          <p:cNvPr id="13" name="Text 11"/>
          <p:cNvSpPr txBox="1"/>
          <p:nvPr/>
        </p:nvSpPr>
        <p:spPr>
          <a:xfrm>
            <a:off x="4672584" y="3200400"/>
            <a:ext cx="3017520" cy="731520"/>
          </a:xfrm>
          <a:prstGeom prst="rect">
            <a:avLst/>
          </a:prstGeom>
          <a:noFill/>
          <a:ln/>
        </p:spPr>
        <p:txBody>
          <a:bodyPr wrap="square" lIns="0" tIns="0" rIns="0" bIns="0" rtlCol="0" anchor="t"/>
          <a:lstStyle/>
          <a:p>
            <a:pPr indent="0" marL="0">
              <a:buNone/>
            </a:pPr>
            <a:r>
              <a:rPr lang="en-US" sz="1800" dirty="0">
                <a:solidFill>
                  <a:schemeClr val="tx1"/>
                </a:solidFill>
              </a:rPr>
              <a:t>About 100.65 seconds.</a:t>
            </a:r>
            <a:endParaRPr lang="en-US" sz="1800" dirty="0"/>
          </a:p>
        </p:txBody>
      </p:sp>
      <p:sp>
        <p:nvSpPr>
          <p:cNvPr id="14" name="Text 12"/>
          <p:cNvSpPr txBox="1"/>
          <p:nvPr/>
        </p:nvSpPr>
        <p:spPr>
          <a:xfrm>
            <a:off x="4672584" y="4206240"/>
            <a:ext cx="3017520" cy="91440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SELECT AVG(dwell_sec) FROM tracks WHERE segment='engaged-shopper'</a:t>
            </a:r>
            <a:endParaRPr lang="en-US" sz="1100" dirty="0"/>
          </a:p>
        </p:txBody>
      </p:sp>
      <p:sp>
        <p:nvSpPr>
          <p:cNvPr id="15" name="QA card 3"/>
          <p:cNvSpPr/>
          <p:nvPr/>
        </p:nvSpPr>
        <p:spPr>
          <a:xfrm>
            <a:off x="8247888" y="1463040"/>
            <a:ext cx="3566160" cy="3840480"/>
          </a:xfrm>
          <a:prstGeom prst="roundRect">
            <a:avLst>
              <a:gd name="adj" fmla="val 3077"/>
            </a:avLst>
          </a:prstGeom>
          <a:solidFill>
            <a:schemeClr val="bg2"/>
          </a:solidFill>
          <a:ln w="12700">
            <a:solidFill>
              <a:schemeClr val="bg2"/>
            </a:solidFill>
            <a:prstDash val="solid"/>
          </a:ln>
        </p:spPr>
      </p:sp>
      <p:sp>
        <p:nvSpPr>
          <p:cNvPr id="16" name="Text 14"/>
          <p:cNvSpPr txBox="1"/>
          <p:nvPr/>
        </p:nvSpPr>
        <p:spPr>
          <a:xfrm>
            <a:off x="8522208" y="1691640"/>
            <a:ext cx="3017520" cy="274320"/>
          </a:xfrm>
          <a:prstGeom prst="rect">
            <a:avLst/>
          </a:prstGeom>
          <a:noFill/>
          <a:ln/>
        </p:spPr>
        <p:txBody>
          <a:bodyPr wrap="square" lIns="0" tIns="0" rIns="0" bIns="0" rtlCol="0" anchor="t"/>
          <a:lstStyle/>
          <a:p>
            <a:pPr indent="0" marL="0">
              <a:buNone/>
            </a:pPr>
            <a:r>
              <a:rPr lang="en-US" sz="1200" b="1" dirty="0">
                <a:solidFill>
                  <a:schemeClr val="tx2"/>
                </a:solidFill>
              </a:rPr>
              <a:t>Question</a:t>
            </a:r>
            <a:endParaRPr lang="en-US" sz="1200" dirty="0"/>
          </a:p>
        </p:txBody>
      </p:sp>
      <p:sp>
        <p:nvSpPr>
          <p:cNvPr id="17" name="Text 15"/>
          <p:cNvSpPr txBox="1"/>
          <p:nvPr/>
        </p:nvSpPr>
        <p:spPr>
          <a:xfrm>
            <a:off x="8522208" y="1965960"/>
            <a:ext cx="3017520" cy="914400"/>
          </a:xfrm>
          <a:prstGeom prst="rect">
            <a:avLst/>
          </a:prstGeom>
          <a:noFill/>
          <a:ln/>
        </p:spPr>
        <p:txBody>
          <a:bodyPr wrap="square" lIns="0" tIns="0" rIns="0" bIns="0" rtlCol="0" anchor="t"/>
          <a:lstStyle/>
          <a:p>
            <a:pPr indent="0" marL="0">
              <a:buNone/>
            </a:pPr>
            <a:r>
              <a:rPr lang="en-US" sz="1800" b="1" dirty="0">
                <a:solidFill>
                  <a:schemeClr val="tx1"/>
                </a:solidFill>
              </a:rPr>
              <a:t>Which zone has the most people?</a:t>
            </a:r>
            <a:endParaRPr lang="en-US" sz="1800" dirty="0"/>
          </a:p>
        </p:txBody>
      </p:sp>
      <p:sp>
        <p:nvSpPr>
          <p:cNvPr id="18" name="Text 16"/>
          <p:cNvSpPr txBox="1"/>
          <p:nvPr/>
        </p:nvSpPr>
        <p:spPr>
          <a:xfrm>
            <a:off x="8522208" y="2926080"/>
            <a:ext cx="3017520" cy="274320"/>
          </a:xfrm>
          <a:prstGeom prst="rect">
            <a:avLst/>
          </a:prstGeom>
          <a:noFill/>
          <a:ln/>
        </p:spPr>
        <p:txBody>
          <a:bodyPr wrap="square" lIns="0" tIns="0" rIns="0" bIns="0" rtlCol="0" anchor="t"/>
          <a:lstStyle/>
          <a:p>
            <a:pPr indent="0" marL="0">
              <a:buNone/>
            </a:pPr>
            <a:r>
              <a:rPr lang="en-US" sz="1200" b="1" dirty="0">
                <a:solidFill>
                  <a:schemeClr val="accent2"/>
                </a:solidFill>
              </a:rPr>
              <a:t>Answer</a:t>
            </a:r>
            <a:endParaRPr lang="en-US" sz="1200" dirty="0"/>
          </a:p>
        </p:txBody>
      </p:sp>
      <p:sp>
        <p:nvSpPr>
          <p:cNvPr id="19" name="Text 17"/>
          <p:cNvSpPr txBox="1"/>
          <p:nvPr/>
        </p:nvSpPr>
        <p:spPr>
          <a:xfrm>
            <a:off x="8522208" y="3200400"/>
            <a:ext cx="3017520" cy="731520"/>
          </a:xfrm>
          <a:prstGeom prst="rect">
            <a:avLst/>
          </a:prstGeom>
          <a:noFill/>
          <a:ln/>
        </p:spPr>
        <p:txBody>
          <a:bodyPr wrap="square" lIns="0" tIns="0" rIns="0" bIns="0" rtlCol="0" anchor="t"/>
          <a:lstStyle/>
          <a:p>
            <a:pPr indent="0" marL="0">
              <a:buNone/>
            </a:pPr>
            <a:r>
              <a:rPr lang="en-US" sz="1800" dirty="0">
                <a:solidFill>
                  <a:schemeClr val="tx1"/>
                </a:solidFill>
              </a:rPr>
              <a:t>Zone r0c0, with 315 people.</a:t>
            </a:r>
            <a:endParaRPr lang="en-US" sz="1800" dirty="0"/>
          </a:p>
        </p:txBody>
      </p:sp>
      <p:sp>
        <p:nvSpPr>
          <p:cNvPr id="20" name="Text 18"/>
          <p:cNvSpPr txBox="1"/>
          <p:nvPr/>
        </p:nvSpPr>
        <p:spPr>
          <a:xfrm>
            <a:off x="8522208" y="4206240"/>
            <a:ext cx="3017520" cy="91440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SELECT zone, COUNT(*) AS people_count FROM tracks GROUP BY zone ORDER BY people_count DESC LIMIT 1</a:t>
            </a:r>
            <a:endParaRPr lang="en-US" sz="1100" dirty="0"/>
          </a:p>
        </p:txBody>
      </p:sp>
      <p:sp>
        <p:nvSpPr>
          <p:cNvPr id="21" name="Text 19"/>
          <p:cNvSpPr txBox="1"/>
          <p:nvPr/>
        </p:nvSpPr>
        <p:spPr>
          <a:xfrm>
            <a:off x="548640" y="5486400"/>
            <a:ext cx="11091672" cy="731520"/>
          </a:xfrm>
          <a:prstGeom prst="rect">
            <a:avLst/>
          </a:prstGeom>
          <a:noFill/>
          <a:ln/>
        </p:spPr>
        <p:txBody>
          <a:bodyPr wrap="square" lIns="0" tIns="0" rIns="0" bIns="0" rtlCol="0" anchor="t"/>
          <a:lstStyle/>
          <a:p>
            <a:pPr indent="0" marL="0">
              <a:buNone/>
            </a:pPr>
            <a:r>
              <a:rPr lang="en-US" sz="1500" dirty="0">
                <a:solidFill>
                  <a:schemeClr val="tx2"/>
                </a:solidFill>
              </a:rPr>
              <a:t>A small open-source model (Qwen2.5-1.5B) writes the SQL and explains the result. Only read-only SELECT queries are allowed, and nothing is sent outside the machine.</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What did not work, and what we did about it</a:t>
            </a:r>
            <a:endParaRPr lang="en-US" sz="3600" dirty="0"/>
          </a:p>
        </p:txBody>
      </p:sp>
      <p:sp>
        <p:nvSpPr>
          <p:cNvPr id="3" name="Finding card 1"/>
          <p:cNvSpPr/>
          <p:nvPr/>
        </p:nvSpPr>
        <p:spPr>
          <a:xfrm>
            <a:off x="548640" y="1463040"/>
            <a:ext cx="3566160" cy="448056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822960" y="1737360"/>
            <a:ext cx="3017520" cy="457200"/>
          </a:xfrm>
          <a:prstGeom prst="rect">
            <a:avLst/>
          </a:prstGeom>
          <a:noFill/>
          <a:ln/>
        </p:spPr>
        <p:txBody>
          <a:bodyPr wrap="square" lIns="0" tIns="0" rIns="0" bIns="0" rtlCol="0" anchor="t"/>
          <a:lstStyle/>
          <a:p>
            <a:pPr indent="0" marL="0">
              <a:buNone/>
            </a:pPr>
            <a:r>
              <a:rPr lang="en-US" sz="2200" b="1" dirty="0">
                <a:solidFill>
                  <a:schemeClr val="accent3"/>
                </a:solidFill>
              </a:rPr>
              <a:t>Bag and staff labels</a:t>
            </a:r>
            <a:endParaRPr lang="en-US" sz="2200" dirty="0"/>
          </a:p>
        </p:txBody>
      </p:sp>
      <p:sp>
        <p:nvSpPr>
          <p:cNvPr id="5" name="Text 3"/>
          <p:cNvSpPr txBox="1"/>
          <p:nvPr/>
        </p:nvSpPr>
        <p:spPr>
          <a:xfrm>
            <a:off x="822960" y="2377440"/>
            <a:ext cx="3017520" cy="274320"/>
          </a:xfrm>
          <a:prstGeom prst="rect">
            <a:avLst/>
          </a:prstGeom>
          <a:noFill/>
          <a:ln/>
        </p:spPr>
        <p:txBody>
          <a:bodyPr wrap="square" lIns="0" tIns="0" rIns="0" bIns="0" rtlCol="0" anchor="t"/>
          <a:lstStyle/>
          <a:p>
            <a:pPr indent="0" marL="0">
              <a:buNone/>
            </a:pPr>
            <a:r>
              <a:rPr lang="en-US" sz="1200" b="1" dirty="0">
                <a:solidFill>
                  <a:schemeClr val="tx2"/>
                </a:solidFill>
              </a:rPr>
              <a:t>What we measured</a:t>
            </a:r>
            <a:endParaRPr lang="en-US" sz="1200" dirty="0"/>
          </a:p>
        </p:txBody>
      </p:sp>
      <p:sp>
        <p:nvSpPr>
          <p:cNvPr id="6" name="Text 4"/>
          <p:cNvSpPr txBox="1"/>
          <p:nvPr/>
        </p:nvSpPr>
        <p:spPr>
          <a:xfrm>
            <a:off x="822960" y="2651760"/>
            <a:ext cx="3017520" cy="1554480"/>
          </a:xfrm>
          <a:prstGeom prst="rect">
            <a:avLst/>
          </a:prstGeom>
          <a:noFill/>
          <a:ln/>
        </p:spPr>
        <p:txBody>
          <a:bodyPr wrap="square" lIns="0" tIns="0" rIns="0" bIns="0" rtlCol="0" anchor="t"/>
          <a:lstStyle/>
          <a:p>
            <a:pPr indent="0" marL="0">
              <a:buNone/>
            </a:pPr>
            <a:r>
              <a:rPr lang="en-US" sz="1500" dirty="0">
                <a:solidFill>
                  <a:schemeClr val="tx1"/>
                </a:solidFill>
              </a:rPr>
              <a:t>Bag check: below baseline on small mall crops, but 74% vs 51% on people 180+ px tall (53 crops). Staff vs customer: never validated.</a:t>
            </a:r>
            <a:endParaRPr lang="en-US" sz="1500" dirty="0"/>
          </a:p>
        </p:txBody>
      </p:sp>
      <p:sp>
        <p:nvSpPr>
          <p:cNvPr id="7" name="Text 5"/>
          <p:cNvSpPr txBox="1"/>
          <p:nvPr/>
        </p:nvSpPr>
        <p:spPr>
          <a:xfrm>
            <a:off x="822960" y="4297680"/>
            <a:ext cx="3017520" cy="274320"/>
          </a:xfrm>
          <a:prstGeom prst="rect">
            <a:avLst/>
          </a:prstGeom>
          <a:noFill/>
          <a:ln/>
        </p:spPr>
        <p:txBody>
          <a:bodyPr wrap="square" lIns="0" tIns="0" rIns="0" bIns="0" rtlCol="0" anchor="t"/>
          <a:lstStyle/>
          <a:p>
            <a:pPr indent="0" marL="0">
              <a:buNone/>
            </a:pPr>
            <a:r>
              <a:rPr lang="en-US" sz="1200" b="1" dirty="0">
                <a:solidFill>
                  <a:schemeClr val="accent2"/>
                </a:solidFill>
              </a:rPr>
              <a:t>What we did</a:t>
            </a:r>
            <a:endParaRPr lang="en-US" sz="1200" dirty="0"/>
          </a:p>
        </p:txBody>
      </p:sp>
      <p:sp>
        <p:nvSpPr>
          <p:cNvPr id="8" name="Text 6"/>
          <p:cNvSpPr txBox="1"/>
          <p:nvPr/>
        </p:nvSpPr>
        <p:spPr>
          <a:xfrm>
            <a:off x="822960" y="4572000"/>
            <a:ext cx="3017520" cy="1188720"/>
          </a:xfrm>
          <a:prstGeom prst="rect">
            <a:avLst/>
          </a:prstGeom>
          <a:noFill/>
          <a:ln/>
        </p:spPr>
        <p:txBody>
          <a:bodyPr wrap="square" lIns="0" tIns="0" rIns="0" bIns="0" rtlCol="0" anchor="t"/>
          <a:lstStyle/>
          <a:p>
            <a:pPr indent="0" marL="0">
              <a:buNone/>
            </a:pPr>
            <a:r>
              <a:rPr lang="en-US" sz="1500" dirty="0">
                <a:solidFill>
                  <a:schemeClr val="tx1"/>
                </a:solidFill>
              </a:rPr>
              <a:t>Bag check only for 180+ px crops and opt-in; staff label stays off.</a:t>
            </a:r>
            <a:endParaRPr lang="en-US" sz="1500" dirty="0"/>
          </a:p>
        </p:txBody>
      </p:sp>
      <p:sp>
        <p:nvSpPr>
          <p:cNvPr id="9" name="Finding card 2"/>
          <p:cNvSpPr/>
          <p:nvPr/>
        </p:nvSpPr>
        <p:spPr>
          <a:xfrm>
            <a:off x="4398264" y="1463040"/>
            <a:ext cx="3566160" cy="4480560"/>
          </a:xfrm>
          <a:prstGeom prst="roundRect">
            <a:avLst>
              <a:gd name="adj" fmla="val 3077"/>
            </a:avLst>
          </a:prstGeom>
          <a:solidFill>
            <a:schemeClr val="bg2"/>
          </a:solidFill>
          <a:ln w="12700">
            <a:solidFill>
              <a:schemeClr val="bg2"/>
            </a:solidFill>
            <a:prstDash val="solid"/>
          </a:ln>
        </p:spPr>
      </p:sp>
      <p:sp>
        <p:nvSpPr>
          <p:cNvPr id="10" name="Text 8"/>
          <p:cNvSpPr txBox="1"/>
          <p:nvPr/>
        </p:nvSpPr>
        <p:spPr>
          <a:xfrm>
            <a:off x="4672584" y="1737360"/>
            <a:ext cx="3017520" cy="457200"/>
          </a:xfrm>
          <a:prstGeom prst="rect">
            <a:avLst/>
          </a:prstGeom>
          <a:noFill/>
          <a:ln/>
        </p:spPr>
        <p:txBody>
          <a:bodyPr wrap="square" lIns="0" tIns="0" rIns="0" bIns="0" rtlCol="0" anchor="t"/>
          <a:lstStyle/>
          <a:p>
            <a:pPr indent="0" marL="0">
              <a:buNone/>
            </a:pPr>
            <a:r>
              <a:rPr lang="en-US" sz="2200" b="1" dirty="0">
                <a:solidFill>
                  <a:schemeClr val="accent3"/>
                </a:solidFill>
              </a:rPr>
              <a:t>Crossings and visitors</a:t>
            </a:r>
            <a:endParaRPr lang="en-US" sz="2200" dirty="0"/>
          </a:p>
        </p:txBody>
      </p:sp>
      <p:sp>
        <p:nvSpPr>
          <p:cNvPr id="11" name="Text 9"/>
          <p:cNvSpPr txBox="1"/>
          <p:nvPr/>
        </p:nvSpPr>
        <p:spPr>
          <a:xfrm>
            <a:off x="4672584" y="2377440"/>
            <a:ext cx="3017520" cy="274320"/>
          </a:xfrm>
          <a:prstGeom prst="rect">
            <a:avLst/>
          </a:prstGeom>
          <a:noFill/>
          <a:ln/>
        </p:spPr>
        <p:txBody>
          <a:bodyPr wrap="square" lIns="0" tIns="0" rIns="0" bIns="0" rtlCol="0" anchor="t"/>
          <a:lstStyle/>
          <a:p>
            <a:pPr indent="0" marL="0">
              <a:buNone/>
            </a:pPr>
            <a:r>
              <a:rPr lang="en-US" sz="1200" b="1" dirty="0">
                <a:solidFill>
                  <a:schemeClr val="tx2"/>
                </a:solidFill>
              </a:rPr>
              <a:t>What we measured</a:t>
            </a:r>
            <a:endParaRPr lang="en-US" sz="1200" dirty="0"/>
          </a:p>
        </p:txBody>
      </p:sp>
      <p:sp>
        <p:nvSpPr>
          <p:cNvPr id="12" name="Text 10"/>
          <p:cNvSpPr txBox="1"/>
          <p:nvPr/>
        </p:nvSpPr>
        <p:spPr>
          <a:xfrm>
            <a:off x="4672584" y="2651760"/>
            <a:ext cx="3017520" cy="1554480"/>
          </a:xfrm>
          <a:prstGeom prst="rect">
            <a:avLst/>
          </a:prstGeom>
          <a:noFill/>
          <a:ln/>
        </p:spPr>
        <p:txBody>
          <a:bodyPr wrap="square" lIns="0" tIns="0" rIns="0" bIns="0" rtlCol="0" anchor="t"/>
          <a:lstStyle/>
          <a:p>
            <a:pPr indent="0" marL="0">
              <a:buNone/>
            </a:pPr>
            <a:r>
              <a:rPr lang="en-US" sz="1500" dirty="0">
                <a:solidFill>
                  <a:schemeClr val="tx1"/>
                </a:solidFill>
              </a:rPr>
              <a:t>Hand-labelled entrance clip: precision 70%, recall 71%. Reported 57 vs ~52 real, because errors offset. People tracked is inflated by ID switches.</a:t>
            </a:r>
            <a:endParaRPr lang="en-US" sz="1500" dirty="0"/>
          </a:p>
        </p:txBody>
      </p:sp>
      <p:sp>
        <p:nvSpPr>
          <p:cNvPr id="13" name="Text 11"/>
          <p:cNvSpPr txBox="1"/>
          <p:nvPr/>
        </p:nvSpPr>
        <p:spPr>
          <a:xfrm>
            <a:off x="4672584" y="4297680"/>
            <a:ext cx="3017520" cy="274320"/>
          </a:xfrm>
          <a:prstGeom prst="rect">
            <a:avLst/>
          </a:prstGeom>
          <a:noFill/>
          <a:ln/>
        </p:spPr>
        <p:txBody>
          <a:bodyPr wrap="square" lIns="0" tIns="0" rIns="0" bIns="0" rtlCol="0" anchor="t"/>
          <a:lstStyle/>
          <a:p>
            <a:pPr indent="0" marL="0">
              <a:buNone/>
            </a:pPr>
            <a:r>
              <a:rPr lang="en-US" sz="1200" b="1" dirty="0">
                <a:solidFill>
                  <a:schemeClr val="accent2"/>
                </a:solidFill>
              </a:rPr>
              <a:t>What we did</a:t>
            </a:r>
            <a:endParaRPr lang="en-US" sz="1200" dirty="0"/>
          </a:p>
        </p:txBody>
      </p:sp>
      <p:sp>
        <p:nvSpPr>
          <p:cNvPr id="14" name="Text 12"/>
          <p:cNvSpPr txBox="1"/>
          <p:nvPr/>
        </p:nvSpPr>
        <p:spPr>
          <a:xfrm>
            <a:off x="4672584" y="4572000"/>
            <a:ext cx="3017520" cy="1188720"/>
          </a:xfrm>
          <a:prstGeom prst="rect">
            <a:avLst/>
          </a:prstGeom>
          <a:noFill/>
          <a:ln/>
        </p:spPr>
        <p:txBody>
          <a:bodyPr wrap="square" lIns="0" tIns="0" rIns="0" bIns="0" rtlCol="0" anchor="t"/>
          <a:lstStyle/>
          <a:p>
            <a:pPr indent="0" marL="0">
              <a:buNone/>
            </a:pPr>
            <a:r>
              <a:rPr lang="en-US" sz="1500" dirty="0">
                <a:solidFill>
                  <a:schemeClr val="tx1"/>
                </a:solidFill>
              </a:rPr>
              <a:t>Report crossings as an estimate, cancel flip-flops, keep people tracked labelled an estimate.</a:t>
            </a:r>
            <a:endParaRPr lang="en-US" sz="1500" dirty="0"/>
          </a:p>
        </p:txBody>
      </p:sp>
      <p:sp>
        <p:nvSpPr>
          <p:cNvPr id="15" name="Finding card 3"/>
          <p:cNvSpPr/>
          <p:nvPr/>
        </p:nvSpPr>
        <p:spPr>
          <a:xfrm>
            <a:off x="8247888" y="1463040"/>
            <a:ext cx="3566160" cy="4480560"/>
          </a:xfrm>
          <a:prstGeom prst="roundRect">
            <a:avLst>
              <a:gd name="adj" fmla="val 3077"/>
            </a:avLst>
          </a:prstGeom>
          <a:solidFill>
            <a:schemeClr val="bg2"/>
          </a:solidFill>
          <a:ln w="12700">
            <a:solidFill>
              <a:schemeClr val="bg2"/>
            </a:solidFill>
            <a:prstDash val="solid"/>
          </a:ln>
        </p:spPr>
      </p:sp>
      <p:sp>
        <p:nvSpPr>
          <p:cNvPr id="16" name="Text 14"/>
          <p:cNvSpPr txBox="1"/>
          <p:nvPr/>
        </p:nvSpPr>
        <p:spPr>
          <a:xfrm>
            <a:off x="8522208" y="1737360"/>
            <a:ext cx="3017520" cy="457200"/>
          </a:xfrm>
          <a:prstGeom prst="rect">
            <a:avLst/>
          </a:prstGeom>
          <a:noFill/>
          <a:ln/>
        </p:spPr>
        <p:txBody>
          <a:bodyPr wrap="square" lIns="0" tIns="0" rIns="0" bIns="0" rtlCol="0" anchor="t"/>
          <a:lstStyle/>
          <a:p>
            <a:pPr indent="0" marL="0">
              <a:buNone/>
            </a:pPr>
            <a:r>
              <a:rPr lang="en-US" sz="2200" b="1" dirty="0">
                <a:solidFill>
                  <a:schemeClr val="accent3"/>
                </a:solidFill>
              </a:rPr>
              <a:t>Forecast</a:t>
            </a:r>
            <a:endParaRPr lang="en-US" sz="2200" dirty="0"/>
          </a:p>
        </p:txBody>
      </p:sp>
      <p:sp>
        <p:nvSpPr>
          <p:cNvPr id="17" name="Text 15"/>
          <p:cNvSpPr txBox="1"/>
          <p:nvPr/>
        </p:nvSpPr>
        <p:spPr>
          <a:xfrm>
            <a:off x="8522208" y="2377440"/>
            <a:ext cx="3017520" cy="274320"/>
          </a:xfrm>
          <a:prstGeom prst="rect">
            <a:avLst/>
          </a:prstGeom>
          <a:noFill/>
          <a:ln/>
        </p:spPr>
        <p:txBody>
          <a:bodyPr wrap="square" lIns="0" tIns="0" rIns="0" bIns="0" rtlCol="0" anchor="t"/>
          <a:lstStyle/>
          <a:p>
            <a:pPr indent="0" marL="0">
              <a:buNone/>
            </a:pPr>
            <a:r>
              <a:rPr lang="en-US" sz="1200" b="1" dirty="0">
                <a:solidFill>
                  <a:schemeClr val="tx2"/>
                </a:solidFill>
              </a:rPr>
              <a:t>What we measured</a:t>
            </a:r>
            <a:endParaRPr lang="en-US" sz="1200" dirty="0"/>
          </a:p>
        </p:txBody>
      </p:sp>
      <p:sp>
        <p:nvSpPr>
          <p:cNvPr id="18" name="Text 16"/>
          <p:cNvSpPr txBox="1"/>
          <p:nvPr/>
        </p:nvSpPr>
        <p:spPr>
          <a:xfrm>
            <a:off x="8522208" y="2651760"/>
            <a:ext cx="3017520" cy="1554480"/>
          </a:xfrm>
          <a:prstGeom prst="rect">
            <a:avLst/>
          </a:prstGeom>
          <a:noFill/>
          <a:ln/>
        </p:spPr>
        <p:txBody>
          <a:bodyPr wrap="square" lIns="0" tIns="0" rIns="0" bIns="0" rtlCol="0" anchor="t"/>
          <a:lstStyle/>
          <a:p>
            <a:pPr indent="0" marL="0">
              <a:buNone/>
            </a:pPr>
            <a:r>
              <a:rPr lang="en-US" sz="1500" dirty="0">
                <a:solidFill>
                  <a:schemeClr val="tx1"/>
                </a:solidFill>
              </a:rPr>
              <a:t>On 17 minutes of data the LSTM only tied 'same as last value'. It needs days of history, which we do not have.</a:t>
            </a:r>
            <a:endParaRPr lang="en-US" sz="1500" dirty="0"/>
          </a:p>
        </p:txBody>
      </p:sp>
      <p:sp>
        <p:nvSpPr>
          <p:cNvPr id="19" name="Text 17"/>
          <p:cNvSpPr txBox="1"/>
          <p:nvPr/>
        </p:nvSpPr>
        <p:spPr>
          <a:xfrm>
            <a:off x="8522208" y="4297680"/>
            <a:ext cx="3017520" cy="274320"/>
          </a:xfrm>
          <a:prstGeom prst="rect">
            <a:avLst/>
          </a:prstGeom>
          <a:noFill/>
          <a:ln/>
        </p:spPr>
        <p:txBody>
          <a:bodyPr wrap="square" lIns="0" tIns="0" rIns="0" bIns="0" rtlCol="0" anchor="t"/>
          <a:lstStyle/>
          <a:p>
            <a:pPr indent="0" marL="0">
              <a:buNone/>
            </a:pPr>
            <a:r>
              <a:rPr lang="en-US" sz="1200" b="1" dirty="0">
                <a:solidFill>
                  <a:schemeClr val="accent2"/>
                </a:solidFill>
              </a:rPr>
              <a:t>What we did</a:t>
            </a:r>
            <a:endParaRPr lang="en-US" sz="1200" dirty="0"/>
          </a:p>
        </p:txBody>
      </p:sp>
      <p:sp>
        <p:nvSpPr>
          <p:cNvPr id="20" name="Text 18"/>
          <p:cNvSpPr txBox="1"/>
          <p:nvPr/>
        </p:nvSpPr>
        <p:spPr>
          <a:xfrm>
            <a:off x="8522208" y="4572000"/>
            <a:ext cx="3017520" cy="1188720"/>
          </a:xfrm>
          <a:prstGeom prst="rect">
            <a:avLst/>
          </a:prstGeom>
          <a:noFill/>
          <a:ln/>
        </p:spPr>
        <p:txBody>
          <a:bodyPr wrap="square" lIns="0" tIns="0" rIns="0" bIns="0" rtlCol="0" anchor="t"/>
          <a:lstStyle/>
          <a:p>
            <a:pPr indent="0" marL="0">
              <a:buNone/>
            </a:pPr>
            <a:r>
              <a:rPr lang="en-US" sz="1500" dirty="0">
                <a:solidFill>
                  <a:schemeClr val="tx1"/>
                </a:solidFill>
              </a:rPr>
              <a:t>Backtests LSTM, last value and same-hour-yesterday and uses the winner; a monitor collects the data.</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Next steps for the team of five</a:t>
            </a:r>
            <a:endParaRPr lang="en-US" sz="3600" dirty="0"/>
          </a:p>
        </p:txBody>
      </p:sp>
      <p:sp>
        <p:nvSpPr>
          <p:cNvPr id="3" name="Workstream 1 card"/>
          <p:cNvSpPr/>
          <p:nvPr/>
        </p:nvSpPr>
        <p:spPr>
          <a:xfrm>
            <a:off x="548640" y="1554480"/>
            <a:ext cx="2011680" cy="3383280"/>
          </a:xfrm>
          <a:prstGeom prst="roundRect">
            <a:avLst>
              <a:gd name="adj" fmla="val 5455"/>
            </a:avLst>
          </a:prstGeom>
          <a:solidFill>
            <a:schemeClr val="bg2"/>
          </a:solidFill>
          <a:ln w="12700">
            <a:solidFill>
              <a:schemeClr val="bg2"/>
            </a:solidFill>
            <a:prstDash val="solid"/>
          </a:ln>
        </p:spPr>
      </p:sp>
      <p:sp>
        <p:nvSpPr>
          <p:cNvPr id="4" name="Workstream 1 badge"/>
          <p:cNvSpPr/>
          <p:nvPr/>
        </p:nvSpPr>
        <p:spPr>
          <a:xfrm>
            <a:off x="777240" y="17830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77240"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777240" y="2423160"/>
            <a:ext cx="1554480" cy="457200"/>
          </a:xfrm>
          <a:prstGeom prst="rect">
            <a:avLst/>
          </a:prstGeom>
          <a:noFill/>
          <a:ln/>
        </p:spPr>
        <p:txBody>
          <a:bodyPr wrap="square" lIns="0" tIns="0" rIns="0" bIns="0" rtlCol="0" anchor="t"/>
          <a:lstStyle/>
          <a:p>
            <a:pPr indent="0" marL="0">
              <a:buNone/>
            </a:pPr>
            <a:r>
              <a:rPr lang="en-US" sz="1800" b="1" dirty="0">
                <a:solidFill>
                  <a:schemeClr val="tx1"/>
                </a:solidFill>
              </a:rPr>
              <a:t>Tracking</a:t>
            </a:r>
            <a:endParaRPr lang="en-US" sz="1800" dirty="0"/>
          </a:p>
        </p:txBody>
      </p:sp>
      <p:sp>
        <p:nvSpPr>
          <p:cNvPr id="7" name="Text 5"/>
          <p:cNvSpPr txBox="1"/>
          <p:nvPr/>
        </p:nvSpPr>
        <p:spPr>
          <a:xfrm>
            <a:off x="777240" y="2926080"/>
            <a:ext cx="1554480" cy="1828800"/>
          </a:xfrm>
          <a:prstGeom prst="rect">
            <a:avLst/>
          </a:prstGeom>
          <a:noFill/>
          <a:ln/>
        </p:spPr>
        <p:txBody>
          <a:bodyPr wrap="square" lIns="0" tIns="0" rIns="0" bIns="0" rtlCol="0" anchor="t"/>
          <a:lstStyle/>
          <a:p>
            <a:pPr indent="0" marL="0">
              <a:buNone/>
            </a:pPr>
            <a:r>
              <a:rPr lang="en-US" sz="1400" dirty="0">
                <a:solidFill>
                  <a:schemeClr val="tx2"/>
                </a:solidFill>
              </a:rPr>
              <a:t>Hand-tracked 30 s window to put a real error on unique visitors and crossings</a:t>
            </a:r>
            <a:endParaRPr lang="en-US" sz="1400" dirty="0"/>
          </a:p>
        </p:txBody>
      </p:sp>
      <p:sp>
        <p:nvSpPr>
          <p:cNvPr id="8" name="Workstream 2 card"/>
          <p:cNvSpPr/>
          <p:nvPr/>
        </p:nvSpPr>
        <p:spPr>
          <a:xfrm>
            <a:off x="2816352" y="1554480"/>
            <a:ext cx="2011680" cy="3383280"/>
          </a:xfrm>
          <a:prstGeom prst="roundRect">
            <a:avLst>
              <a:gd name="adj" fmla="val 5455"/>
            </a:avLst>
          </a:prstGeom>
          <a:solidFill>
            <a:schemeClr val="bg2"/>
          </a:solidFill>
          <a:ln w="12700">
            <a:solidFill>
              <a:schemeClr val="bg2"/>
            </a:solidFill>
            <a:prstDash val="solid"/>
          </a:ln>
        </p:spPr>
      </p:sp>
      <p:sp>
        <p:nvSpPr>
          <p:cNvPr id="9" name="Workstream 2 badge"/>
          <p:cNvSpPr/>
          <p:nvPr/>
        </p:nvSpPr>
        <p:spPr>
          <a:xfrm>
            <a:off x="3044952" y="17830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3044952"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3044952" y="2423160"/>
            <a:ext cx="1554480" cy="457200"/>
          </a:xfrm>
          <a:prstGeom prst="rect">
            <a:avLst/>
          </a:prstGeom>
          <a:noFill/>
          <a:ln/>
        </p:spPr>
        <p:txBody>
          <a:bodyPr wrap="square" lIns="0" tIns="0" rIns="0" bIns="0" rtlCol="0" anchor="t"/>
          <a:lstStyle/>
          <a:p>
            <a:pPr indent="0" marL="0">
              <a:buNone/>
            </a:pPr>
            <a:r>
              <a:rPr lang="en-US" sz="1800" b="1" dirty="0">
                <a:solidFill>
                  <a:schemeClr val="tx1"/>
                </a:solidFill>
              </a:rPr>
              <a:t>Classification</a:t>
            </a:r>
            <a:endParaRPr lang="en-US" sz="1800" dirty="0"/>
          </a:p>
        </p:txBody>
      </p:sp>
      <p:sp>
        <p:nvSpPr>
          <p:cNvPr id="12" name="Text 10"/>
          <p:cNvSpPr txBox="1"/>
          <p:nvPr/>
        </p:nvSpPr>
        <p:spPr>
          <a:xfrm>
            <a:off x="3044952" y="2926080"/>
            <a:ext cx="1554480" cy="1828800"/>
          </a:xfrm>
          <a:prstGeom prst="rect">
            <a:avLst/>
          </a:prstGeom>
          <a:noFill/>
          <a:ln/>
        </p:spPr>
        <p:txBody>
          <a:bodyPr wrap="square" lIns="0" tIns="0" rIns="0" bIns="0" rtlCol="0" anchor="t"/>
          <a:lstStyle/>
          <a:p>
            <a:pPr indent="0" marL="0">
              <a:buNone/>
            </a:pPr>
            <a:r>
              <a:rPr lang="en-US" sz="1400" dirty="0">
                <a:solidFill>
                  <a:schemeClr val="tx2"/>
                </a:solidFill>
              </a:rPr>
              <a:t>Higher-resolution footage, or a model trained on a person-attribute dataset</a:t>
            </a:r>
            <a:endParaRPr lang="en-US" sz="1400" dirty="0"/>
          </a:p>
        </p:txBody>
      </p:sp>
      <p:sp>
        <p:nvSpPr>
          <p:cNvPr id="13" name="Workstream 3 card"/>
          <p:cNvSpPr/>
          <p:nvPr/>
        </p:nvSpPr>
        <p:spPr>
          <a:xfrm>
            <a:off x="5084064" y="1554480"/>
            <a:ext cx="2011680" cy="3383280"/>
          </a:xfrm>
          <a:prstGeom prst="roundRect">
            <a:avLst>
              <a:gd name="adj" fmla="val 5455"/>
            </a:avLst>
          </a:prstGeom>
          <a:solidFill>
            <a:schemeClr val="bg2"/>
          </a:solidFill>
          <a:ln w="12700">
            <a:solidFill>
              <a:schemeClr val="bg2"/>
            </a:solidFill>
            <a:prstDash val="solid"/>
          </a:ln>
        </p:spPr>
      </p:sp>
      <p:sp>
        <p:nvSpPr>
          <p:cNvPr id="14" name="Workstream 3 badge"/>
          <p:cNvSpPr/>
          <p:nvPr/>
        </p:nvSpPr>
        <p:spPr>
          <a:xfrm>
            <a:off x="5312664" y="178308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5312664"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5312664" y="2423160"/>
            <a:ext cx="1554480" cy="457200"/>
          </a:xfrm>
          <a:prstGeom prst="rect">
            <a:avLst/>
          </a:prstGeom>
          <a:noFill/>
          <a:ln/>
        </p:spPr>
        <p:txBody>
          <a:bodyPr wrap="square" lIns="0" tIns="0" rIns="0" bIns="0" rtlCol="0" anchor="t"/>
          <a:lstStyle/>
          <a:p>
            <a:pPr indent="0" marL="0">
              <a:buNone/>
            </a:pPr>
            <a:r>
              <a:rPr lang="en-US" sz="1800" b="1" dirty="0">
                <a:solidFill>
                  <a:schemeClr val="tx1"/>
                </a:solidFill>
              </a:rPr>
              <a:t>Forecast</a:t>
            </a:r>
            <a:endParaRPr lang="en-US" sz="1800" dirty="0"/>
          </a:p>
        </p:txBody>
      </p:sp>
      <p:sp>
        <p:nvSpPr>
          <p:cNvPr id="17" name="Text 15"/>
          <p:cNvSpPr txBox="1"/>
          <p:nvPr/>
        </p:nvSpPr>
        <p:spPr>
          <a:xfrm>
            <a:off x="5312664" y="2926080"/>
            <a:ext cx="1554480" cy="1828800"/>
          </a:xfrm>
          <a:prstGeom prst="rect">
            <a:avLst/>
          </a:prstGeom>
          <a:noFill/>
          <a:ln/>
        </p:spPr>
        <p:txBody>
          <a:bodyPr wrap="square" lIns="0" tIns="0" rIns="0" bIns="0" rtlCol="0" anchor="t"/>
          <a:lstStyle/>
          <a:p>
            <a:pPr indent="0" marL="0">
              <a:buNone/>
            </a:pPr>
            <a:r>
              <a:rPr lang="en-US" sz="1400" dirty="0">
                <a:solidFill>
                  <a:schemeClr val="tx2"/>
                </a:solidFill>
              </a:rPr>
              <a:t>Several days of hourly footfall from one store</a:t>
            </a:r>
            <a:endParaRPr lang="en-US" sz="1400" dirty="0"/>
          </a:p>
        </p:txBody>
      </p:sp>
      <p:sp>
        <p:nvSpPr>
          <p:cNvPr id="18" name="Workstream 4 card"/>
          <p:cNvSpPr/>
          <p:nvPr/>
        </p:nvSpPr>
        <p:spPr>
          <a:xfrm>
            <a:off x="7351776" y="1554480"/>
            <a:ext cx="2011680" cy="3383280"/>
          </a:xfrm>
          <a:prstGeom prst="roundRect">
            <a:avLst>
              <a:gd name="adj" fmla="val 5455"/>
            </a:avLst>
          </a:prstGeom>
          <a:solidFill>
            <a:schemeClr val="bg2"/>
          </a:solidFill>
          <a:ln w="12700">
            <a:solidFill>
              <a:schemeClr val="bg2"/>
            </a:solidFill>
            <a:prstDash val="solid"/>
          </a:ln>
        </p:spPr>
      </p:sp>
      <p:sp>
        <p:nvSpPr>
          <p:cNvPr id="19" name="Workstream 4 badge"/>
          <p:cNvSpPr/>
          <p:nvPr/>
        </p:nvSpPr>
        <p:spPr>
          <a:xfrm>
            <a:off x="7580376" y="178308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7580376"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1" name="Text 19"/>
          <p:cNvSpPr txBox="1"/>
          <p:nvPr/>
        </p:nvSpPr>
        <p:spPr>
          <a:xfrm>
            <a:off x="7580376" y="2423160"/>
            <a:ext cx="1554480" cy="457200"/>
          </a:xfrm>
          <a:prstGeom prst="rect">
            <a:avLst/>
          </a:prstGeom>
          <a:noFill/>
          <a:ln/>
        </p:spPr>
        <p:txBody>
          <a:bodyPr wrap="square" lIns="0" tIns="0" rIns="0" bIns="0" rtlCol="0" anchor="t"/>
          <a:lstStyle/>
          <a:p>
            <a:pPr indent="0" marL="0">
              <a:buNone/>
            </a:pPr>
            <a:r>
              <a:rPr lang="en-US" sz="1800" b="1" dirty="0">
                <a:solidFill>
                  <a:schemeClr val="tx1"/>
                </a:solidFill>
              </a:rPr>
              <a:t>Local LLM</a:t>
            </a:r>
            <a:endParaRPr lang="en-US" sz="1800" dirty="0"/>
          </a:p>
        </p:txBody>
      </p:sp>
      <p:sp>
        <p:nvSpPr>
          <p:cNvPr id="22" name="Text 20"/>
          <p:cNvSpPr txBox="1"/>
          <p:nvPr/>
        </p:nvSpPr>
        <p:spPr>
          <a:xfrm>
            <a:off x="7580376" y="2926080"/>
            <a:ext cx="1554480" cy="1828800"/>
          </a:xfrm>
          <a:prstGeom prst="rect">
            <a:avLst/>
          </a:prstGeom>
          <a:noFill/>
          <a:ln/>
        </p:spPr>
        <p:txBody>
          <a:bodyPr wrap="square" lIns="0" tIns="0" rIns="0" bIns="0" rtlCol="0" anchor="t"/>
          <a:lstStyle/>
          <a:p>
            <a:pPr indent="0" marL="0">
              <a:buNone/>
            </a:pPr>
            <a:r>
              <a:rPr lang="en-US" sz="1400" dirty="0">
                <a:solidFill>
                  <a:schemeClr val="tx2"/>
                </a:solidFill>
              </a:rPr>
              <a:t>Grow the question benchmark; try fine-tuning on question to SQL pairs</a:t>
            </a:r>
            <a:endParaRPr lang="en-US" sz="1400" dirty="0"/>
          </a:p>
        </p:txBody>
      </p:sp>
      <p:sp>
        <p:nvSpPr>
          <p:cNvPr id="23" name="Workstream 5 card"/>
          <p:cNvSpPr/>
          <p:nvPr/>
        </p:nvSpPr>
        <p:spPr>
          <a:xfrm>
            <a:off x="9619488" y="1554480"/>
            <a:ext cx="2011680" cy="3383280"/>
          </a:xfrm>
          <a:prstGeom prst="roundRect">
            <a:avLst>
              <a:gd name="adj" fmla="val 5455"/>
            </a:avLst>
          </a:prstGeom>
          <a:solidFill>
            <a:schemeClr val="bg2"/>
          </a:solidFill>
          <a:ln w="12700">
            <a:solidFill>
              <a:schemeClr val="bg2"/>
            </a:solidFill>
            <a:prstDash val="solid"/>
          </a:ln>
        </p:spPr>
      </p:sp>
      <p:sp>
        <p:nvSpPr>
          <p:cNvPr id="24" name="Workstream 5 badge"/>
          <p:cNvSpPr/>
          <p:nvPr/>
        </p:nvSpPr>
        <p:spPr>
          <a:xfrm>
            <a:off x="9848088" y="1783080"/>
            <a:ext cx="457200" cy="457200"/>
          </a:xfrm>
          <a:prstGeom prst="ellipse">
            <a:avLst/>
          </a:prstGeom>
          <a:solidFill>
            <a:schemeClr val="accent1"/>
          </a:solidFill>
          <a:ln w="12700">
            <a:solidFill>
              <a:schemeClr val="accent1"/>
            </a:solidFill>
            <a:prstDash val="solid"/>
          </a:ln>
        </p:spPr>
      </p:sp>
      <p:sp>
        <p:nvSpPr>
          <p:cNvPr id="25" name="Text 23"/>
          <p:cNvSpPr txBox="1"/>
          <p:nvPr/>
        </p:nvSpPr>
        <p:spPr>
          <a:xfrm>
            <a:off x="9848088"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6" name="Text 24"/>
          <p:cNvSpPr txBox="1"/>
          <p:nvPr/>
        </p:nvSpPr>
        <p:spPr>
          <a:xfrm>
            <a:off x="9848088" y="2423160"/>
            <a:ext cx="1554480" cy="457200"/>
          </a:xfrm>
          <a:prstGeom prst="rect">
            <a:avLst/>
          </a:prstGeom>
          <a:noFill/>
          <a:ln/>
        </p:spPr>
        <p:txBody>
          <a:bodyPr wrap="square" lIns="0" tIns="0" rIns="0" bIns="0" rtlCol="0" anchor="t"/>
          <a:lstStyle/>
          <a:p>
            <a:pPr indent="0" marL="0">
              <a:buNone/>
            </a:pPr>
            <a:r>
              <a:rPr lang="en-US" sz="1800" b="1" dirty="0">
                <a:solidFill>
                  <a:schemeClr val="tx1"/>
                </a:solidFill>
              </a:rPr>
              <a:t>Product</a:t>
            </a:r>
            <a:endParaRPr lang="en-US" sz="1800" dirty="0"/>
          </a:p>
        </p:txBody>
      </p:sp>
      <p:sp>
        <p:nvSpPr>
          <p:cNvPr id="27" name="Text 25"/>
          <p:cNvSpPr txBox="1"/>
          <p:nvPr/>
        </p:nvSpPr>
        <p:spPr>
          <a:xfrm>
            <a:off x="9848088" y="2926080"/>
            <a:ext cx="1554480" cy="1828800"/>
          </a:xfrm>
          <a:prstGeom prst="rect">
            <a:avLst/>
          </a:prstGeom>
          <a:noFill/>
          <a:ln/>
        </p:spPr>
        <p:txBody>
          <a:bodyPr wrap="square" lIns="0" tIns="0" rIns="0" bIns="0" rtlCol="0" anchor="t"/>
          <a:lstStyle/>
          <a:p>
            <a:pPr indent="0" marL="0">
              <a:buNone/>
            </a:pPr>
            <a:r>
              <a:rPr lang="en-US" sz="1400" dirty="0">
                <a:solidFill>
                  <a:schemeClr val="tx2"/>
                </a:solidFill>
              </a:rPr>
              <a:t>Per-user accounts, HTTPS, continuous live streaming on a real camera</a:t>
            </a:r>
            <a:endParaRPr lang="en-US" sz="1400" dirty="0"/>
          </a:p>
        </p:txBody>
      </p:sp>
      <p:sp>
        <p:nvSpPr>
          <p:cNvPr id="28" name="Text 26"/>
          <p:cNvSpPr txBox="1"/>
          <p:nvPr/>
        </p:nvSpPr>
        <p:spPr>
          <a:xfrm>
            <a:off x="548640" y="5394960"/>
            <a:ext cx="11091672" cy="640080"/>
          </a:xfrm>
          <a:prstGeom prst="rect">
            <a:avLst/>
          </a:prstGeom>
          <a:noFill/>
          <a:ln/>
        </p:spPr>
        <p:txBody>
          <a:bodyPr wrap="square" lIns="0" tIns="0" rIns="0" bIns="0" rtlCol="0" anchor="t"/>
          <a:lstStyle/>
          <a:p>
            <a:pPr indent="0" marL="0">
              <a:buNone/>
            </a:pPr>
            <a:r>
              <a:rPr lang="en-US" sz="1800" b="1" dirty="0">
                <a:solidFill>
                  <a:schemeClr val="tx1"/>
                </a:solidFill>
              </a:rPr>
              <a:t>Blocked today by data, not by code: identity ground truth, higher-resolution footage, and multi-day history.</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5852160" cy="2011680"/>
          </a:xfrm>
          <a:prstGeom prst="rect">
            <a:avLst/>
          </a:prstGeom>
          <a:noFill/>
          <a:ln/>
        </p:spPr>
        <p:txBody>
          <a:bodyPr wrap="square" lIns="0" tIns="0" rIns="0" bIns="0" rtlCol="0" anchor="t"/>
          <a:lstStyle/>
          <a:p>
            <a:pPr algn="l" indent="0" marL="0">
              <a:buNone/>
            </a:pPr>
            <a:r>
              <a:rPr lang="en-US" sz="5400" b="1" dirty="0">
                <a:solidFill>
                  <a:schemeClr val="bg1"/>
                </a:solidFill>
              </a:rPr>
              <a:t>From camera feed to decision, locally</a:t>
            </a:r>
            <a:endParaRPr lang="en-US" sz="5400" dirty="0"/>
          </a:p>
        </p:txBody>
      </p:sp>
      <p:sp>
        <p:nvSpPr>
          <p:cNvPr id="3" name="Text 0"/>
          <p:cNvSpPr/>
          <p:nvPr>
            <p:ph idx="101" type="body" hasCustomPrompt="1"/>
          </p:nvPr>
        </p:nvSpPr>
        <p:spPr>
          <a:xfrm>
            <a:off x="548640" y="3749040"/>
            <a:ext cx="5852160" cy="1463040"/>
          </a:xfrm>
          <a:prstGeom prst="rect">
            <a:avLst/>
          </a:prstGeom>
          <a:noFill/>
          <a:ln/>
        </p:spPr>
        <p:txBody>
          <a:bodyPr wrap="square" lIns="0" tIns="0" rIns="0" bIns="0" rtlCol="0" anchor="t"/>
          <a:lstStyle/>
          <a:p>
            <a:pPr algn="l" indent="0" marL="0">
              <a:buNone/>
            </a:pPr>
            <a:r>
              <a:rPr lang="en-US" sz="2000" dirty="0">
                <a:solidFill>
                  <a:schemeClr val="bg2"/>
                </a:solidFill>
              </a:rPr>
              <a:t>Working today: tracking, occupancy, entrance counts, forecasting with an honest backtest, and a local analyst.</a:t>
            </a:r>
            <a:endParaRPr lang="en-US" sz="2000" dirty="0"/>
          </a:p>
        </p:txBody>
      </p:sp>
      <p:sp>
        <p:nvSpPr>
          <p:cNvPr id="4" name="Text 2"/>
          <p:cNvSpPr txBox="1"/>
          <p:nvPr/>
        </p:nvSpPr>
        <p:spPr>
          <a:xfrm>
            <a:off x="6949440" y="1371600"/>
            <a:ext cx="12801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5</a:t>
            </a:r>
            <a:endParaRPr lang="en-US" sz="5400" dirty="0"/>
          </a:p>
        </p:txBody>
      </p:sp>
      <p:sp>
        <p:nvSpPr>
          <p:cNvPr id="5" name="Text 3"/>
          <p:cNvSpPr txBox="1"/>
          <p:nvPr/>
        </p:nvSpPr>
        <p:spPr>
          <a:xfrm>
            <a:off x="8412480" y="1600200"/>
            <a:ext cx="3108960" cy="548640"/>
          </a:xfrm>
          <a:prstGeom prst="rect">
            <a:avLst/>
          </a:prstGeom>
          <a:noFill/>
          <a:ln/>
        </p:spPr>
        <p:txBody>
          <a:bodyPr wrap="square" lIns="0" tIns="0" rIns="0" bIns="0" rtlCol="0" anchor="ctr"/>
          <a:lstStyle/>
          <a:p>
            <a:pPr indent="0" marL="0">
              <a:buNone/>
            </a:pPr>
            <a:r>
              <a:rPr lang="en-US" sz="1800" dirty="0">
                <a:solidFill>
                  <a:schemeClr val="bg1"/>
                </a:solidFill>
              </a:rPr>
              <a:t>workstreams defined</a:t>
            </a:r>
            <a:endParaRPr lang="en-US" sz="1800" dirty="0"/>
          </a:p>
        </p:txBody>
      </p:sp>
      <p:sp>
        <p:nvSpPr>
          <p:cNvPr id="6" name="Text 4"/>
          <p:cNvSpPr txBox="1"/>
          <p:nvPr/>
        </p:nvSpPr>
        <p:spPr>
          <a:xfrm>
            <a:off x="6949440" y="2743200"/>
            <a:ext cx="12801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84</a:t>
            </a:r>
            <a:endParaRPr lang="en-US" sz="5400" dirty="0"/>
          </a:p>
        </p:txBody>
      </p:sp>
      <p:sp>
        <p:nvSpPr>
          <p:cNvPr id="7" name="Text 5"/>
          <p:cNvSpPr txBox="1"/>
          <p:nvPr/>
        </p:nvSpPr>
        <p:spPr>
          <a:xfrm>
            <a:off x="8412480" y="2971800"/>
            <a:ext cx="3108960" cy="548640"/>
          </a:xfrm>
          <a:prstGeom prst="rect">
            <a:avLst/>
          </a:prstGeom>
          <a:noFill/>
          <a:ln/>
        </p:spPr>
        <p:txBody>
          <a:bodyPr wrap="square" lIns="0" tIns="0" rIns="0" bIns="0" rtlCol="0" anchor="ctr"/>
          <a:lstStyle/>
          <a:p>
            <a:pPr indent="0" marL="0">
              <a:buNone/>
            </a:pPr>
            <a:r>
              <a:rPr lang="en-US" sz="1800" dirty="0">
                <a:solidFill>
                  <a:schemeClr val="bg1"/>
                </a:solidFill>
              </a:rPr>
              <a:t>automated tests, all passing</a:t>
            </a:r>
            <a:endParaRPr lang="en-US" sz="1800" dirty="0"/>
          </a:p>
        </p:txBody>
      </p:sp>
      <p:sp>
        <p:nvSpPr>
          <p:cNvPr id="8" name="Text 6"/>
          <p:cNvSpPr txBox="1"/>
          <p:nvPr/>
        </p:nvSpPr>
        <p:spPr>
          <a:xfrm>
            <a:off x="6949440" y="4114800"/>
            <a:ext cx="12801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0</a:t>
            </a:r>
            <a:endParaRPr lang="en-US" sz="5400" dirty="0"/>
          </a:p>
        </p:txBody>
      </p:sp>
      <p:sp>
        <p:nvSpPr>
          <p:cNvPr id="9" name="Text 7"/>
          <p:cNvSpPr txBox="1"/>
          <p:nvPr/>
        </p:nvSpPr>
        <p:spPr>
          <a:xfrm>
            <a:off x="8412480" y="4343400"/>
            <a:ext cx="3108960" cy="548640"/>
          </a:xfrm>
          <a:prstGeom prst="rect">
            <a:avLst/>
          </a:prstGeom>
          <a:noFill/>
          <a:ln/>
        </p:spPr>
        <p:txBody>
          <a:bodyPr wrap="square" lIns="0" tIns="0" rIns="0" bIns="0" rtlCol="0" anchor="ctr"/>
          <a:lstStyle/>
          <a:p>
            <a:pPr indent="0" marL="0">
              <a:buNone/>
            </a:pPr>
            <a:r>
              <a:rPr lang="en-US" sz="1800" dirty="0">
                <a:solidFill>
                  <a:schemeClr val="bg1"/>
                </a:solidFill>
              </a:rPr>
              <a:t>external APIs</a:t>
            </a:r>
            <a:endParaRPr lang="en-US" sz="1800" dirty="0"/>
          </a:p>
        </p:txBody>
      </p:sp>
      <p:sp>
        <p:nvSpPr>
          <p:cNvPr id="10" name="Text 8"/>
          <p:cNvSpPr txBox="1"/>
          <p:nvPr/>
        </p:nvSpPr>
        <p:spPr>
          <a:xfrm>
            <a:off x="548640" y="5760720"/>
            <a:ext cx="6400800" cy="365760"/>
          </a:xfrm>
          <a:prstGeom prst="rect">
            <a:avLst/>
          </a:prstGeom>
          <a:noFill/>
          <a:ln/>
        </p:spPr>
        <p:txBody>
          <a:bodyPr wrap="square" lIns="0" tIns="0" rIns="0" bIns="0" rtlCol="0" anchor="t"/>
          <a:lstStyle/>
          <a:p>
            <a:pPr indent="0" marL="0">
              <a:buNone/>
            </a:pPr>
            <a:r>
              <a:rPr lang="en-US" sz="1600" dirty="0">
                <a:solidFill>
                  <a:schemeClr val="accent1"/>
                </a:solidFill>
              </a:rPr>
              <a:t>github.com/Vidushi1408/RetailVision</a:t>
            </a:r>
            <a:endParaRPr lang="en-US" sz="1600" dirty="0"/>
          </a:p>
        </p:txBody>
      </p:sp>
    </p:spTree>
  </p:cSld>
  <p:clrMapOvr>
    <a:masterClrMapping/>
  </p:clrMapOvr>
</p:sld>
</file>

<file path=ppt/theme/theme1.xml><?xml version="1.0" encoding="utf-8"?>
<a:theme xmlns:a="http://schemas.openxmlformats.org/drawingml/2006/main" name="RetailVision">
  <a:themeElements>
    <a:clrScheme name="RetailVision">
      <a:dk1>
        <a:srgbClr val="0B1F2A"/>
      </a:dk1>
      <a:lt1>
        <a:srgbClr val="FFFFFF"/>
      </a:lt1>
      <a:dk2>
        <a:srgbClr val="3B5266"/>
      </a:dk2>
      <a:lt2>
        <a:srgbClr val="EEF3F6"/>
      </a:lt2>
      <a:accent1>
        <a:srgbClr val="F59E0B"/>
      </a:accent1>
      <a:accent2>
        <a:srgbClr val="0F9D8A"/>
      </a:accent2>
      <a:accent3>
        <a:srgbClr val="D64545"/>
      </a:accent3>
      <a:accent4>
        <a:srgbClr val="5B6CF0"/>
      </a:accent4>
      <a:accent5>
        <a:srgbClr val="64748B"/>
      </a:accent5>
      <a:accent6>
        <a:srgbClr val="22A55B"/>
      </a:accent6>
      <a:hlink>
        <a:srgbClr val="0F9D8A"/>
      </a:hlink>
      <a:folHlink>
        <a:srgbClr val="5B6CF0"/>
      </a:folHlink>
    </a:clrScheme>
    <a:fontScheme name="Retail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RetailVision: store-camera video to decisions</dc:title>
  <dc:subject>PptxGenJS Presentation</dc:subject>
  <dc:creator>RetailVision team</dc:creator>
  <cp:lastModifiedBy>RetailVision team</cp:lastModifiedBy>
  <cp:revision>1</cp:revision>
  <dcterms:created xsi:type="dcterms:W3CDTF">2026-10-14T10:18:49Z</dcterms:created>
  <dcterms:modified xsi:type="dcterms:W3CDTF">2026-10-14T10:18:49Z</dcterms:modified>
</cp:coreProperties>
</file>