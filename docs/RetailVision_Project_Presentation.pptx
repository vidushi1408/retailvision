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1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B1F2A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0B1F2A"/>
                </a:solidFill>
                <a:latin typeface="+mn-lt"/>
              </a:rPr>
              <a:t>Measured scores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Percent</c:v>
                </c:pt>
              </c:strCache>
            </c:strRef>
          </c:tx>
          <c:spPr>
            <a:solidFill>
              <a:srgbClr val="0F9D8A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B1F2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Occupancy (100 minus error)</c:v>
                  </c:pt>
                  <c:pt idx="1">
                    <c:v>Crossing precision</c:v>
                  </c:pt>
                  <c:pt idx="2">
                    <c:v>Crossing recall</c:v>
                  </c:pt>
                  <c:pt idx="3">
                    <c:v>Bag accuracy</c:v>
                  </c:pt>
                  <c:pt idx="4">
                    <c:v>Bag baseline</c:v>
                  </c:pt>
                  <c:pt idx="5">
                    <c:v>Analyst, new wording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86</c:v>
                </c:pt>
                <c:pt idx="1">
                  <c:v>70</c:v>
                </c:pt>
                <c:pt idx="2">
                  <c:v>71</c:v>
                </c:pt>
                <c:pt idx="3">
                  <c:v>74</c:v>
                </c:pt>
                <c:pt idx="4">
                  <c:v>51</c:v>
                </c:pt>
                <c:pt idx="5">
                  <c:v>92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200" u="none">
                  <a:solidFill>
                    <a:srgbClr val="0B1F2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B1F2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EEF3F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B526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idea in one sentence: cameras already exist, nobody turns them into numbers. This deck walks through each algorithm in the order the data flows.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outputs. Stress that everything runs on the user's own machine and uploaded video is deleted after analysis.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left to right, then the second row. Detection and tracking are the expensive part; everything else works on small stored numbers, so it is instant.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Detection has no memory: each frame is independent. We use the pretrained model unchanged; the gain came from input size and threshold, measured on a public dataset.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Kalman filter predicts where each track should be; IoU measures overlap; the Hungarian algorithm assigns one detection to one track. The two-round matching is the idea that makes ByteTrack special.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our own algorithm. Every rule exists because something went wrong on real footage: the margin stops jitter, the segment test stops walking around the end, the reversal rule removed 17 false events on the entrance clip.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KMeans is unsupervised: it finds three groups in four numbers. The names come from a rule on the cluster centres, which is why they are only meaningful inside one video.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Zero-shot means no training labels: we compare the picture with sentences. The key lesson is that crop size decides whether this works: below baseline on small crops, 74% on large 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honest point: an LSTM is not automatically better. We compare it with two trivial baselines on held-out hours and use whichever has the lowest error.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model only writes a query; the numbers come from the database. Every query passes through the guard. The deterministic fixes exist because a 1.5 billion parameter model makes characteristic mistakes.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slide for the question 'what is the difference between X and Y'. Three families: pretrained neural networks, models fitted to the user's data, and hand-written rules.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row is a decision with a measured reason and an honest cost. This is the answer to 'why not X'.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six steps. The key engineering ideas are that the request returns at once and the work is queued in the database, so a restart does not lose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Everything on the page is a plain HTML element updated by JavaScript from one of the API routes. The step badges are an animation, not live server progress.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where each number comes from. Occupancy and detection use a public dataset with ground truth; the others are hand labels on one supplied clip, so they are indicative.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this slide when asked 'what does not work'. Each limit has a reason and a fix path.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with: eight core algorithms, each chosen for a measured reason, each with a stated limit. Offer the written document for detail.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63040"/>
            <a:ext cx="6583680" cy="2194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840480"/>
            <a:ext cx="64008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RetailVision  |  how it works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63040"/>
            <a:ext cx="65836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0" b="1" dirty="0">
                <a:solidFill>
                  <a:schemeClr val="bg1"/>
                </a:solidFill>
              </a:rPr>
              <a:t>RetailVision</a:t>
            </a: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840480"/>
            <a:ext cx="640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How store-camera video becomes decisions: every algorithm, where it runs, and why we chose it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760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1"/>
                </a:solidFill>
              </a:rPr>
              <a:t>Detection  ·  Tracking  ·  Clustering  ·  Vision-language  ·  Forecasting  ·  Local LLM</a:t>
            </a:r>
            <a:endParaRPr lang="en-US" sz="1400" dirty="0"/>
          </a:p>
        </p:txBody>
      </p:sp>
      <p:pic>
        <p:nvPicPr>
          <p:cNvPr id="5" name="Annotated frame" descr="Mall CCTV frame with tracked people and a counting li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0" y="1188720"/>
            <a:ext cx="4206240" cy="31546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406640" y="44348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Output of our own pipeline on public mall CCTV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What the system produces</a:t>
            </a:r>
            <a:endParaRPr lang="en-US" sz="3200" dirty="0"/>
          </a:p>
        </p:txBody>
      </p:sp>
      <p:sp>
        <p:nvSpPr>
          <p:cNvPr id="4" name="Output 1"/>
          <p:cNvSpPr/>
          <p:nvPr/>
        </p:nvSpPr>
        <p:spPr>
          <a:xfrm>
            <a:off x="548640" y="1463040"/>
            <a:ext cx="2103120" cy="3291840"/>
          </a:xfrm>
          <a:prstGeom prst="roundRect">
            <a:avLst>
              <a:gd name="adj" fmla="val 43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Badge 1"/>
          <p:cNvSpPr/>
          <p:nvPr/>
        </p:nvSpPr>
        <p:spPr>
          <a:xfrm>
            <a:off x="777240" y="169164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3317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Occupancy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78892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How many people are in view, every second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41605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YOLOv8s</a:t>
            </a:r>
            <a:endParaRPr lang="en-US" sz="1300" dirty="0"/>
          </a:p>
        </p:txBody>
      </p:sp>
      <p:sp>
        <p:nvSpPr>
          <p:cNvPr id="10" name="Output 2"/>
          <p:cNvSpPr/>
          <p:nvPr/>
        </p:nvSpPr>
        <p:spPr>
          <a:xfrm>
            <a:off x="2834640" y="1463040"/>
            <a:ext cx="2103120" cy="3291840"/>
          </a:xfrm>
          <a:prstGeom prst="roundRect">
            <a:avLst>
              <a:gd name="adj" fmla="val 43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Badge 2"/>
          <p:cNvSpPr/>
          <p:nvPr/>
        </p:nvSpPr>
        <p:spPr>
          <a:xfrm>
            <a:off x="3063240" y="169164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06324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3063240" y="23317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Entrance counts</a:t>
            </a:r>
            <a:endParaRPr lang="en-US" sz="1900" dirty="0"/>
          </a:p>
        </p:txBody>
      </p:sp>
      <p:sp>
        <p:nvSpPr>
          <p:cNvPr id="14" name="Text 11"/>
          <p:cNvSpPr txBox="1"/>
          <p:nvPr/>
        </p:nvSpPr>
        <p:spPr>
          <a:xfrm>
            <a:off x="3063240" y="278892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People crossing a line you draw, in and out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3063240" y="41605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ByteTrack + geometry</a:t>
            </a:r>
            <a:endParaRPr lang="en-US" sz="1300" dirty="0"/>
          </a:p>
        </p:txBody>
      </p:sp>
      <p:sp>
        <p:nvSpPr>
          <p:cNvPr id="16" name="Output 3"/>
          <p:cNvSpPr/>
          <p:nvPr/>
        </p:nvSpPr>
        <p:spPr>
          <a:xfrm>
            <a:off x="5120640" y="1463040"/>
            <a:ext cx="2103120" cy="3291840"/>
          </a:xfrm>
          <a:prstGeom prst="roundRect">
            <a:avLst>
              <a:gd name="adj" fmla="val 43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Badge 3"/>
          <p:cNvSpPr/>
          <p:nvPr/>
        </p:nvSpPr>
        <p:spPr>
          <a:xfrm>
            <a:off x="5349240" y="169164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34924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5349240" y="23317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Behaviour</a:t>
            </a:r>
            <a:endParaRPr lang="en-US" sz="1900" dirty="0"/>
          </a:p>
        </p:txBody>
      </p:sp>
      <p:sp>
        <p:nvSpPr>
          <p:cNvPr id="20" name="Text 17"/>
          <p:cNvSpPr txBox="1"/>
          <p:nvPr/>
        </p:nvSpPr>
        <p:spPr>
          <a:xfrm>
            <a:off x="5349240" y="278892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Dwell time, zones, passer-by / browser / engaged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5349240" y="41605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KMeans</a:t>
            </a:r>
            <a:endParaRPr lang="en-US" sz="1300" dirty="0"/>
          </a:p>
        </p:txBody>
      </p:sp>
      <p:sp>
        <p:nvSpPr>
          <p:cNvPr id="22" name="Output 4"/>
          <p:cNvSpPr/>
          <p:nvPr/>
        </p:nvSpPr>
        <p:spPr>
          <a:xfrm>
            <a:off x="7406640" y="1463040"/>
            <a:ext cx="2103120" cy="3291840"/>
          </a:xfrm>
          <a:prstGeom prst="roundRect">
            <a:avLst>
              <a:gd name="adj" fmla="val 43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Badge 4"/>
          <p:cNvSpPr/>
          <p:nvPr/>
        </p:nvSpPr>
        <p:spPr>
          <a:xfrm>
            <a:off x="7635240" y="169164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63524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7635240" y="23317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Forecast</a:t>
            </a:r>
            <a:endParaRPr lang="en-US" sz="1900" dirty="0"/>
          </a:p>
        </p:txBody>
      </p:sp>
      <p:sp>
        <p:nvSpPr>
          <p:cNvPr id="26" name="Text 23"/>
          <p:cNvSpPr txBox="1"/>
          <p:nvPr/>
        </p:nvSpPr>
        <p:spPr>
          <a:xfrm>
            <a:off x="7635240" y="278892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Footfall for the next hours, once history exists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7635240" y="41605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LSTM + baselines</a:t>
            </a:r>
            <a:endParaRPr lang="en-US" sz="1300" dirty="0"/>
          </a:p>
        </p:txBody>
      </p:sp>
      <p:sp>
        <p:nvSpPr>
          <p:cNvPr id="28" name="Output 5"/>
          <p:cNvSpPr/>
          <p:nvPr/>
        </p:nvSpPr>
        <p:spPr>
          <a:xfrm>
            <a:off x="9692640" y="1463040"/>
            <a:ext cx="2103120" cy="3291840"/>
          </a:xfrm>
          <a:prstGeom prst="roundRect">
            <a:avLst>
              <a:gd name="adj" fmla="val 43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Badge 5"/>
          <p:cNvSpPr/>
          <p:nvPr/>
        </p:nvSpPr>
        <p:spPr>
          <a:xfrm>
            <a:off x="9921240" y="169164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992124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31" name="Text 28"/>
          <p:cNvSpPr txBox="1"/>
          <p:nvPr/>
        </p:nvSpPr>
        <p:spPr>
          <a:xfrm>
            <a:off x="9921240" y="23317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Questions</a:t>
            </a:r>
            <a:endParaRPr lang="en-US" sz="1900" dirty="0"/>
          </a:p>
        </p:txBody>
      </p:sp>
      <p:sp>
        <p:nvSpPr>
          <p:cNvPr id="32" name="Text 29"/>
          <p:cNvSpPr txBox="1"/>
          <p:nvPr/>
        </p:nvSpPr>
        <p:spPr>
          <a:xfrm>
            <a:off x="9921240" y="278892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Plain-English answers from the stored numbers</a:t>
            </a:r>
            <a:endParaRPr lang="en-US" sz="1400" dirty="0"/>
          </a:p>
        </p:txBody>
      </p:sp>
      <p:sp>
        <p:nvSpPr>
          <p:cNvPr id="33" name="Text 30"/>
          <p:cNvSpPr txBox="1"/>
          <p:nvPr/>
        </p:nvSpPr>
        <p:spPr>
          <a:xfrm>
            <a:off x="9921240" y="41605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Local LLM + SQL guard</a:t>
            </a:r>
            <a:endParaRPr lang="en-US" sz="1300" dirty="0"/>
          </a:p>
        </p:txBody>
      </p:sp>
      <p:sp>
        <p:nvSpPr>
          <p:cNvPr id="34" name="Text 31"/>
          <p:cNvSpPr txBox="1"/>
          <p:nvPr/>
        </p:nvSpPr>
        <p:spPr>
          <a:xfrm>
            <a:off x="548640" y="51206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No cloud AI service is called. Models and data stay on the machine (the web page itself loads Chart.js and fonts from the internet).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The pipeline in one picture</a:t>
            </a:r>
            <a:endParaRPr lang="en-US" sz="3200" dirty="0"/>
          </a:p>
        </p:txBody>
      </p:sp>
      <p:sp>
        <p:nvSpPr>
          <p:cNvPr id="4" name="Stage 1"/>
          <p:cNvSpPr/>
          <p:nvPr/>
        </p:nvSpPr>
        <p:spPr>
          <a:xfrm>
            <a:off x="548640" y="1417320"/>
            <a:ext cx="2011680" cy="1737360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31520" y="16002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2"/>
                </a:solidFill>
              </a:rPr>
              <a:t>Video</a:t>
            </a:r>
            <a:endParaRPr lang="en-US" sz="19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210312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uploaded clip or a camera window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2560320" y="19659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chemeClr val="accent1"/>
                </a:solidFill>
              </a:rPr>
              <a:t>→</a:t>
            </a:r>
            <a:endParaRPr lang="en-US" sz="2200" dirty="0"/>
          </a:p>
        </p:txBody>
      </p:sp>
      <p:sp>
        <p:nvSpPr>
          <p:cNvPr id="8" name="Stage 2"/>
          <p:cNvSpPr/>
          <p:nvPr/>
        </p:nvSpPr>
        <p:spPr>
          <a:xfrm>
            <a:off x="2834640" y="1417320"/>
            <a:ext cx="2011680" cy="1737360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017520" y="16002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2"/>
                </a:solidFill>
              </a:rPr>
              <a:t>YOLOv8s</a:t>
            </a:r>
            <a:endParaRPr lang="en-US" sz="1900" dirty="0"/>
          </a:p>
        </p:txBody>
      </p:sp>
      <p:sp>
        <p:nvSpPr>
          <p:cNvPr id="10" name="Text 7"/>
          <p:cNvSpPr txBox="1"/>
          <p:nvPr/>
        </p:nvSpPr>
        <p:spPr>
          <a:xfrm>
            <a:off x="3017520" y="210312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finds every person in each frame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4846320" y="19659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chemeClr val="accent1"/>
                </a:solidFill>
              </a:rPr>
              <a:t>→</a:t>
            </a:r>
            <a:endParaRPr lang="en-US" sz="2200" dirty="0"/>
          </a:p>
        </p:txBody>
      </p:sp>
      <p:sp>
        <p:nvSpPr>
          <p:cNvPr id="12" name="Stage 3"/>
          <p:cNvSpPr/>
          <p:nvPr/>
        </p:nvSpPr>
        <p:spPr>
          <a:xfrm>
            <a:off x="5120640" y="1417320"/>
            <a:ext cx="2011680" cy="1737360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303520" y="16002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2"/>
                </a:solidFill>
              </a:rPr>
              <a:t>ByteTrack</a:t>
            </a:r>
            <a:endParaRPr lang="en-US" sz="1900" dirty="0"/>
          </a:p>
        </p:txBody>
      </p:sp>
      <p:sp>
        <p:nvSpPr>
          <p:cNvPr id="14" name="Text 11"/>
          <p:cNvSpPr txBox="1"/>
          <p:nvPr/>
        </p:nvSpPr>
        <p:spPr>
          <a:xfrm>
            <a:off x="5303520" y="210312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links boxes into one track per person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7132320" y="19659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chemeClr val="accent1"/>
                </a:solidFill>
              </a:rPr>
              <a:t>→</a:t>
            </a:r>
            <a:endParaRPr lang="en-US" sz="2200" dirty="0"/>
          </a:p>
        </p:txBody>
      </p:sp>
      <p:sp>
        <p:nvSpPr>
          <p:cNvPr id="16" name="Stage 4"/>
          <p:cNvSpPr/>
          <p:nvPr/>
        </p:nvSpPr>
        <p:spPr>
          <a:xfrm>
            <a:off x="7406640" y="1417320"/>
            <a:ext cx="2011680" cy="1737360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589520" y="16002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2"/>
                </a:solidFill>
              </a:rPr>
              <a:t>Measure</a:t>
            </a:r>
            <a:endParaRPr lang="en-US" sz="1900" dirty="0"/>
          </a:p>
        </p:txBody>
      </p:sp>
      <p:sp>
        <p:nvSpPr>
          <p:cNvPr id="18" name="Text 15"/>
          <p:cNvSpPr txBox="1"/>
          <p:nvPr/>
        </p:nvSpPr>
        <p:spPr>
          <a:xfrm>
            <a:off x="7589520" y="210312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crossings, merge, trajectory features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9418320" y="19659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chemeClr val="accent1"/>
                </a:solidFill>
              </a:rPr>
              <a:t>→</a:t>
            </a:r>
            <a:endParaRPr lang="en-US" sz="2200" dirty="0"/>
          </a:p>
        </p:txBody>
      </p:sp>
      <p:sp>
        <p:nvSpPr>
          <p:cNvPr id="20" name="Stage 5"/>
          <p:cNvSpPr/>
          <p:nvPr/>
        </p:nvSpPr>
        <p:spPr>
          <a:xfrm>
            <a:off x="9692640" y="1417320"/>
            <a:ext cx="2011680" cy="1737360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875520" y="16002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2"/>
                </a:solidFill>
              </a:rPr>
              <a:t>SQLite</a:t>
            </a:r>
            <a:endParaRPr lang="en-US" sz="1900" dirty="0"/>
          </a:p>
        </p:txBody>
      </p:sp>
      <p:sp>
        <p:nvSpPr>
          <p:cNvPr id="22" name="Text 19"/>
          <p:cNvSpPr txBox="1"/>
          <p:nvPr/>
        </p:nvSpPr>
        <p:spPr>
          <a:xfrm>
            <a:off x="9875520" y="210312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tracks, crossings, per-second counts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548640" y="35204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Built on the stored numbers</a:t>
            </a:r>
            <a:endParaRPr lang="en-US" sz="1400" dirty="0"/>
          </a:p>
        </p:txBody>
      </p:sp>
      <p:sp>
        <p:nvSpPr>
          <p:cNvPr id="24" name="Layer 1"/>
          <p:cNvSpPr/>
          <p:nvPr/>
        </p:nvSpPr>
        <p:spPr>
          <a:xfrm>
            <a:off x="548640" y="3931920"/>
            <a:ext cx="201168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31520" y="41148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KMeans</a:t>
            </a:r>
            <a:endParaRPr lang="en-US" sz="1900" dirty="0"/>
          </a:p>
        </p:txBody>
      </p:sp>
      <p:sp>
        <p:nvSpPr>
          <p:cNvPr id="26" name="Text 23"/>
          <p:cNvSpPr txBox="1"/>
          <p:nvPr/>
        </p:nvSpPr>
        <p:spPr>
          <a:xfrm>
            <a:off x="731520" y="46177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behaviour groups</a:t>
            </a:r>
            <a:endParaRPr lang="en-US" sz="1400" dirty="0"/>
          </a:p>
        </p:txBody>
      </p:sp>
      <p:sp>
        <p:nvSpPr>
          <p:cNvPr id="27" name="Layer 2"/>
          <p:cNvSpPr/>
          <p:nvPr/>
        </p:nvSpPr>
        <p:spPr>
          <a:xfrm>
            <a:off x="2834640" y="3931920"/>
            <a:ext cx="201168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3017520" y="41148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CLIP</a:t>
            </a:r>
            <a:endParaRPr lang="en-US" sz="1900" dirty="0"/>
          </a:p>
        </p:txBody>
      </p:sp>
      <p:sp>
        <p:nvSpPr>
          <p:cNvPr id="29" name="Text 26"/>
          <p:cNvSpPr txBox="1"/>
          <p:nvPr/>
        </p:nvSpPr>
        <p:spPr>
          <a:xfrm>
            <a:off x="3017520" y="46177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carrying a bag</a:t>
            </a:r>
            <a:endParaRPr lang="en-US" sz="1400" dirty="0"/>
          </a:p>
        </p:txBody>
      </p:sp>
      <p:sp>
        <p:nvSpPr>
          <p:cNvPr id="30" name="Layer 3"/>
          <p:cNvSpPr/>
          <p:nvPr/>
        </p:nvSpPr>
        <p:spPr>
          <a:xfrm>
            <a:off x="5120640" y="3931920"/>
            <a:ext cx="201168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5303520" y="41148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LSTM</a:t>
            </a:r>
            <a:endParaRPr lang="en-US" sz="1900" dirty="0"/>
          </a:p>
        </p:txBody>
      </p:sp>
      <p:sp>
        <p:nvSpPr>
          <p:cNvPr id="32" name="Text 29"/>
          <p:cNvSpPr txBox="1"/>
          <p:nvPr/>
        </p:nvSpPr>
        <p:spPr>
          <a:xfrm>
            <a:off x="5303520" y="46177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footfall forecast</a:t>
            </a:r>
            <a:endParaRPr lang="en-US" sz="1400" dirty="0"/>
          </a:p>
        </p:txBody>
      </p:sp>
      <p:sp>
        <p:nvSpPr>
          <p:cNvPr id="33" name="Layer 4"/>
          <p:cNvSpPr/>
          <p:nvPr/>
        </p:nvSpPr>
        <p:spPr>
          <a:xfrm>
            <a:off x="7406640" y="3931920"/>
            <a:ext cx="201168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7589520" y="41148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Qwen + guard</a:t>
            </a:r>
            <a:endParaRPr lang="en-US" sz="1900" dirty="0"/>
          </a:p>
        </p:txBody>
      </p:sp>
      <p:sp>
        <p:nvSpPr>
          <p:cNvPr id="35" name="Text 32"/>
          <p:cNvSpPr txBox="1"/>
          <p:nvPr/>
        </p:nvSpPr>
        <p:spPr>
          <a:xfrm>
            <a:off x="7589520" y="46177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answers questions</a:t>
            </a:r>
            <a:endParaRPr lang="en-US" sz="1400" dirty="0"/>
          </a:p>
        </p:txBody>
      </p:sp>
      <p:sp>
        <p:nvSpPr>
          <p:cNvPr id="36" name="Layer 5"/>
          <p:cNvSpPr/>
          <p:nvPr/>
        </p:nvSpPr>
        <p:spPr>
          <a:xfrm>
            <a:off x="9692640" y="3931920"/>
            <a:ext cx="201168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9875520" y="41148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Dashboard</a:t>
            </a:r>
            <a:endParaRPr lang="en-US" sz="1900" dirty="0"/>
          </a:p>
        </p:txBody>
      </p:sp>
      <p:sp>
        <p:nvSpPr>
          <p:cNvPr id="38" name="Text 35"/>
          <p:cNvSpPr txBox="1"/>
          <p:nvPr/>
        </p:nvSpPr>
        <p:spPr>
          <a:xfrm>
            <a:off x="9875520" y="46177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charts, line drawing</a:t>
            </a:r>
            <a:endParaRPr lang="en-US" sz="1400" dirty="0"/>
          </a:p>
        </p:txBody>
      </p:sp>
      <p:sp>
        <p:nvSpPr>
          <p:cNvPr id="39" name="Text 36"/>
          <p:cNvSpPr txBox="1"/>
          <p:nvPr/>
        </p:nvSpPr>
        <p:spPr>
          <a:xfrm>
            <a:off x="548640" y="56692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Neural networks: YOLO, CLIP, LSTM, Qwen.   Classical: Kalman filter, Hungarian matching, KMeans.   Hand-written rules: crossings, merging, SQL guard.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Detection: YOLOv8s finds the people</a:t>
            </a:r>
            <a:endParaRPr lang="en-US" sz="3200" dirty="0"/>
          </a:p>
        </p:txBody>
      </p:sp>
      <p:sp>
        <p:nvSpPr>
          <p:cNvPr id="4" name="Detection card"/>
          <p:cNvSpPr/>
          <p:nvPr/>
        </p:nvSpPr>
        <p:spPr>
          <a:xfrm>
            <a:off x="548640" y="1417320"/>
            <a:ext cx="5669280" cy="4663440"/>
          </a:xfrm>
          <a:prstGeom prst="roundRect">
            <a:avLst>
              <a:gd name="adj" fmla="val 19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68680" y="1691640"/>
            <a:ext cx="50292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A convolutional network sees one frame and returns boxes with a confidence score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Single pass, no anchors; non-maximum suppression removes duplicate boxes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We keep class 0 (person) only, input 1280 px, confidence 0.15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Pretrained on COCO, used unchanged (no fine-tuning)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868680" y="50292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Where: tracker.py, track_video()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54406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Why: fast on a laptop, no training, strong accuracy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766560" y="155448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13.2</a:t>
            </a:r>
            <a:endParaRPr lang="en-US" sz="6000" dirty="0"/>
          </a:p>
        </p:txBody>
      </p:sp>
      <p:sp>
        <p:nvSpPr>
          <p:cNvPr id="9" name="Text 6"/>
          <p:cNvSpPr txBox="1"/>
          <p:nvPr/>
        </p:nvSpPr>
        <p:spPr>
          <a:xfrm>
            <a:off x="8869680" y="173736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people error per frame with default settings (42%)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6766560" y="384048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4.1</a:t>
            </a:r>
            <a:endParaRPr lang="en-US" sz="6000" dirty="0"/>
          </a:p>
        </p:txBody>
      </p:sp>
      <p:sp>
        <p:nvSpPr>
          <p:cNvPr id="11" name="Text 8"/>
          <p:cNvSpPr txBox="1"/>
          <p:nvPr/>
        </p:nvSpPr>
        <p:spPr>
          <a:xfrm>
            <a:off x="8869680" y="402336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people error with 1280 px and conf 0.15 (13%)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6766560" y="59436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Measured on 200 frames of the CUHK Mall dataset (ground-truth counts)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Tracking: ByteTrack gives each person an ID over time</a:t>
            </a:r>
            <a:endParaRPr lang="en-US" sz="3200" dirty="0"/>
          </a:p>
        </p:txBody>
      </p:sp>
      <p:sp>
        <p:nvSpPr>
          <p:cNvPr id="4" name="Step 1"/>
          <p:cNvSpPr/>
          <p:nvPr/>
        </p:nvSpPr>
        <p:spPr>
          <a:xfrm>
            <a:off x="548640" y="1417320"/>
            <a:ext cx="6766560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55448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1  Predict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3200400" y="1527048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Kalman filter moves every track forward using its recent velocity.</a:t>
            </a:r>
            <a:endParaRPr lang="en-US" sz="1400" dirty="0"/>
          </a:p>
        </p:txBody>
      </p:sp>
      <p:sp>
        <p:nvSpPr>
          <p:cNvPr id="7" name="Step 2"/>
          <p:cNvSpPr/>
          <p:nvPr/>
        </p:nvSpPr>
        <p:spPr>
          <a:xfrm>
            <a:off x="548640" y="2606040"/>
            <a:ext cx="6766560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22960" y="274320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2  Match strong boxes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3200400" y="2715768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Boxes above 0.25 are matched to tracks by overlap (IoU) with the Hungarian algorithm.</a:t>
            </a:r>
            <a:endParaRPr lang="en-US" sz="1400" dirty="0"/>
          </a:p>
        </p:txBody>
      </p:sp>
      <p:sp>
        <p:nvSpPr>
          <p:cNvPr id="10" name="Step 3"/>
          <p:cNvSpPr/>
          <p:nvPr/>
        </p:nvSpPr>
        <p:spPr>
          <a:xfrm>
            <a:off x="548640" y="3794760"/>
            <a:ext cx="6766560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22960" y="39319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3  Match weak boxes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3200400" y="3904488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Leftover tracks are matched to low-score boxes (0.10 to 0.25): usually a person who is partly hidden.</a:t>
            </a:r>
            <a:endParaRPr lang="en-US" sz="1400" dirty="0"/>
          </a:p>
        </p:txBody>
      </p:sp>
      <p:sp>
        <p:nvSpPr>
          <p:cNvPr id="13" name="Step 4"/>
          <p:cNvSpPr/>
          <p:nvPr/>
        </p:nvSpPr>
        <p:spPr>
          <a:xfrm>
            <a:off x="548640" y="4983480"/>
            <a:ext cx="6766560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22960" y="512064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4  Create / lose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3200400" y="5093208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Unmatched strong boxes start tracks; unmatched tracks wait 60 frames before they are dropped.</a:t>
            </a:r>
            <a:endParaRPr lang="en-US" sz="1400" dirty="0"/>
          </a:p>
        </p:txBody>
      </p:sp>
      <p:sp>
        <p:nvSpPr>
          <p:cNvPr id="16" name="Why card"/>
          <p:cNvSpPr/>
          <p:nvPr/>
        </p:nvSpPr>
        <p:spPr>
          <a:xfrm>
            <a:off x="7680960" y="1417320"/>
            <a:ext cx="3931920" cy="4709160"/>
          </a:xfrm>
          <a:prstGeom prst="roundRect">
            <a:avLst>
              <a:gd name="adj" fmla="val 23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955280" y="16459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Why ByteTrack</a:t>
            </a:r>
            <a:endParaRPr lang="en-US" sz="1900" dirty="0"/>
          </a:p>
        </p:txBody>
      </p:sp>
      <p:sp>
        <p:nvSpPr>
          <p:cNvPr id="18" name="Text 15"/>
          <p:cNvSpPr txBox="1"/>
          <p:nvPr/>
        </p:nvSpPr>
        <p:spPr>
          <a:xfrm>
            <a:off x="7955280" y="2194560"/>
            <a:ext cx="3383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Uses box geometry only: no second model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Keeps weak boxes instead of discarding them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Tuned: buffer 60, match 0.9 for crowds at low fps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7955280" y="4480560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Weak spot: IDs jump when people cross or walk as a group, so "people tracked" is an estimate.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Counting entrances: line-crossing geometry</a:t>
            </a:r>
            <a:endParaRPr lang="en-US" sz="3200" dirty="0"/>
          </a:p>
        </p:txBody>
      </p:sp>
      <p:sp>
        <p:nvSpPr>
          <p:cNvPr id="4" name="Diagram card"/>
          <p:cNvSpPr/>
          <p:nvPr/>
        </p:nvSpPr>
        <p:spPr>
          <a:xfrm>
            <a:off x="548640" y="1417320"/>
            <a:ext cx="5760720" cy="4663440"/>
          </a:xfrm>
          <a:prstGeom prst="roundRect">
            <a:avLst>
              <a:gd name="adj" fmla="val 19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Counting line"/>
          <p:cNvSpPr/>
          <p:nvPr/>
        </p:nvSpPr>
        <p:spPr>
          <a:xfrm>
            <a:off x="1097280" y="3657600"/>
            <a:ext cx="4663440" cy="0"/>
          </a:xfrm>
          <a:prstGeom prst="line">
            <a:avLst/>
          </a:prstGeom>
          <a:noFill/>
          <a:ln w="38100">
            <a:solidFill>
              <a:schemeClr val="accent1"/>
            </a:solidFill>
            <a:prstDash val="solid"/>
          </a:ln>
        </p:spPr>
      </p:sp>
      <p:sp>
        <p:nvSpPr>
          <p:cNvPr id="6" name="Margin above"/>
          <p:cNvSpPr/>
          <p:nvPr/>
        </p:nvSpPr>
        <p:spPr>
          <a:xfrm>
            <a:off x="1097280" y="3246120"/>
            <a:ext cx="4663440" cy="0"/>
          </a:xfrm>
          <a:prstGeom prst="line">
            <a:avLst/>
          </a:prstGeom>
          <a:noFill/>
          <a:ln w="12700">
            <a:solidFill>
              <a:schemeClr val="accent5"/>
            </a:solidFill>
            <a:prstDash val="dash"/>
          </a:ln>
        </p:spPr>
      </p:sp>
      <p:sp>
        <p:nvSpPr>
          <p:cNvPr id="7" name="Margin below"/>
          <p:cNvSpPr/>
          <p:nvPr/>
        </p:nvSpPr>
        <p:spPr>
          <a:xfrm>
            <a:off x="1097280" y="4069080"/>
            <a:ext cx="4663440" cy="0"/>
          </a:xfrm>
          <a:prstGeom prst="line">
            <a:avLst/>
          </a:prstGeom>
          <a:noFill/>
          <a:ln w="12700">
            <a:solidFill>
              <a:schemeClr val="accent5"/>
            </a:solidFill>
            <a:prstDash val="dash"/>
          </a:ln>
        </p:spPr>
      </p:sp>
      <p:sp>
        <p:nvSpPr>
          <p:cNvPr id="8" name="Text 5"/>
          <p:cNvSpPr txBox="1"/>
          <p:nvPr/>
        </p:nvSpPr>
        <p:spPr>
          <a:xfrm>
            <a:off x="4572000" y="29260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margin 0.02</a:t>
            </a:r>
            <a:endParaRPr lang="en-US" sz="1100" dirty="0"/>
          </a:p>
        </p:txBody>
      </p:sp>
      <p:sp>
        <p:nvSpPr>
          <p:cNvPr id="9" name="Point t1"/>
          <p:cNvSpPr/>
          <p:nvPr/>
        </p:nvSpPr>
        <p:spPr>
          <a:xfrm>
            <a:off x="3182112" y="1901952"/>
            <a:ext cx="219456" cy="219456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0" name="Point t2"/>
          <p:cNvSpPr/>
          <p:nvPr/>
        </p:nvSpPr>
        <p:spPr>
          <a:xfrm>
            <a:off x="3182112" y="2816352"/>
            <a:ext cx="219456" cy="219456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1" name="Point t3"/>
          <p:cNvSpPr/>
          <p:nvPr/>
        </p:nvSpPr>
        <p:spPr>
          <a:xfrm>
            <a:off x="3182112" y="4370832"/>
            <a:ext cx="219456" cy="21945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2" name="Point t4"/>
          <p:cNvSpPr/>
          <p:nvPr/>
        </p:nvSpPr>
        <p:spPr>
          <a:xfrm>
            <a:off x="3182112" y="5193792"/>
            <a:ext cx="219456" cy="21945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3" name="Track path"/>
          <p:cNvSpPr/>
          <p:nvPr/>
        </p:nvSpPr>
        <p:spPr>
          <a:xfrm>
            <a:off x="3291840" y="2011680"/>
            <a:ext cx="0" cy="329184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4" name="Text 11"/>
          <p:cNvSpPr txBox="1"/>
          <p:nvPr/>
        </p:nvSpPr>
        <p:spPr>
          <a:xfrm>
            <a:off x="914400" y="21031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left side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50749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right side = "in"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777240" y="349300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5852160" y="349300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B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6583680" y="1554480"/>
            <a:ext cx="50292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1  </a:t>
            </a:r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Signed distance of each track point to line A to B (cross product).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2  </a:t>
            </a:r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Count only a move from beyond the margin on one side to beyond it on the other.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3  </a:t>
            </a:r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The crossing point must lie within the segment.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4  </a:t>
            </a:r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Cancel a cross and its opposite within 3 s: jitter or an ID switch.</a:t>
            </a:r>
            <a:endParaRPr lang="en-US" sz="1500" dirty="0"/>
          </a:p>
        </p:txBody>
      </p:sp>
      <p:sp>
        <p:nvSpPr>
          <p:cNvPr id="19" name="Result card"/>
          <p:cNvSpPr/>
          <p:nvPr/>
        </p:nvSpPr>
        <p:spPr>
          <a:xfrm>
            <a:off x="6583680" y="4754880"/>
            <a:ext cx="5029200" cy="1325880"/>
          </a:xfrm>
          <a:prstGeom prst="roundRect">
            <a:avLst>
              <a:gd name="adj" fmla="val 6897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812280" y="489204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Entrance clip, hand-labelled: precision 70%, recall 71%. Reported 57 vs about 52 real crossings.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Behaviour: trajectory features and KMeans</a:t>
            </a:r>
            <a:endParaRPr lang="en-US" sz="3200" dirty="0"/>
          </a:p>
        </p:txBody>
      </p:sp>
      <p:sp>
        <p:nvSpPr>
          <p:cNvPr id="4" name="Features card"/>
          <p:cNvSpPr/>
          <p:nvPr/>
        </p:nvSpPr>
        <p:spPr>
          <a:xfrm>
            <a:off x="548640" y="1417320"/>
            <a:ext cx="3657600" cy="4663440"/>
          </a:xfrm>
          <a:prstGeom prst="roundRect">
            <a:avLst>
              <a:gd name="adj" fmla="val 2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6459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4 numbers per person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194560"/>
            <a:ext cx="3108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Dwell time (seconds)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Path length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Average speed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Stationary ratio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420624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Made from the track's points in track_features()</a:t>
            </a:r>
            <a:endParaRPr lang="en-US" sz="1300" dirty="0"/>
          </a:p>
        </p:txBody>
      </p:sp>
      <p:sp>
        <p:nvSpPr>
          <p:cNvPr id="8" name="KMeans card"/>
          <p:cNvSpPr/>
          <p:nvPr/>
        </p:nvSpPr>
        <p:spPr>
          <a:xfrm>
            <a:off x="4480560" y="1417320"/>
            <a:ext cx="3566160" cy="4663440"/>
          </a:xfrm>
          <a:prstGeom prst="roundRect">
            <a:avLst>
              <a:gd name="adj" fmla="val 25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754880" y="16459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KMeans, k = 3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4754880" y="2194560"/>
            <a:ext cx="3017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Standardise the 4 numbers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Group people by nearest centre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No labels needed; fitted per video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4754880" y="45720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Where: classifier.py, segment_shoppers()</a:t>
            </a:r>
            <a:endParaRPr lang="en-US" sz="1300" dirty="0"/>
          </a:p>
        </p:txBody>
      </p:sp>
      <p:sp>
        <p:nvSpPr>
          <p:cNvPr id="12" name="Names card"/>
          <p:cNvSpPr/>
          <p:nvPr/>
        </p:nvSpPr>
        <p:spPr>
          <a:xfrm>
            <a:off x="8321040" y="1417320"/>
            <a:ext cx="3291840" cy="4663440"/>
          </a:xfrm>
          <a:prstGeom prst="roundRect">
            <a:avLst>
              <a:gd name="adj" fmla="val 27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595360" y="1645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Naming the groups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8595360" y="219456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Fastest centre: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passer-by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Longest dwell of the rest: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engaged-shopper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Remaining: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browser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8595360" y="457200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Limit: always exactly 3 groups, and names are relative to that one video.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Attributes: CLIP reads a picture with sentences</a:t>
            </a:r>
            <a:endParaRPr lang="en-US" sz="3200" dirty="0"/>
          </a:p>
        </p:txBody>
      </p:sp>
      <p:sp>
        <p:nvSpPr>
          <p:cNvPr id="4" name="CLIP card"/>
          <p:cNvSpPr/>
          <p:nvPr/>
        </p:nvSpPr>
        <p:spPr>
          <a:xfrm>
            <a:off x="548640" y="1417320"/>
            <a:ext cx="5760720" cy="4663440"/>
          </a:xfrm>
          <a:prstGeom prst="roundRect">
            <a:avLst>
              <a:gd name="adj" fmla="val 19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68680" y="1691640"/>
            <a:ext cx="51206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 network trained on image-text pairs maps pictures and sentences into one space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Score = similarity to "carrying a bag or basket" minus similarity to "carrying nothing"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Runs on each person's largest crop, only if it is 180 px or taller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Optional per upload: loads a 600 MB model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868680" y="53035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Where: classifier.py, carrying_bag()</a:t>
            </a:r>
            <a:endParaRPr lang="en-US" sz="1400" dirty="0"/>
          </a:p>
        </p:txBody>
      </p:sp>
      <p:sp>
        <p:nvSpPr>
          <p:cNvPr id="7" name="Result 1"/>
          <p:cNvSpPr/>
          <p:nvPr/>
        </p:nvSpPr>
        <p:spPr>
          <a:xfrm>
            <a:off x="6583680" y="1554480"/>
            <a:ext cx="5029200" cy="128016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812280" y="1691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Small mall crops (87 to 188 px)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6812280" y="21488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below the 'no bag' baseline</a:t>
            </a:r>
            <a:endParaRPr lang="en-US" sz="1800" dirty="0"/>
          </a:p>
        </p:txBody>
      </p:sp>
      <p:sp>
        <p:nvSpPr>
          <p:cNvPr id="10" name="Result 2"/>
          <p:cNvSpPr/>
          <p:nvPr/>
        </p:nvSpPr>
        <p:spPr>
          <a:xfrm>
            <a:off x="6583680" y="3063240"/>
            <a:ext cx="5029200" cy="128016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812280" y="3200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Entrance crops (188 to 295 px)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6812280" y="36576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74% accuracy vs 51% baseline</a:t>
            </a:r>
            <a:endParaRPr lang="en-US" sz="1800" dirty="0"/>
          </a:p>
        </p:txBody>
      </p:sp>
      <p:sp>
        <p:nvSpPr>
          <p:cNvPr id="13" name="Result 3"/>
          <p:cNvSpPr/>
          <p:nvPr/>
        </p:nvSpPr>
        <p:spPr>
          <a:xfrm>
            <a:off x="6583680" y="4572000"/>
            <a:ext cx="5029200" cy="128016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812280" y="4709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Staff vs customer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6812280" y="51663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never validated: off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6583680" y="60350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n = 53 labelled crops: about plus or minus 12 points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Forecast: LSTM, chosen only if it wins a backtest</a:t>
            </a:r>
            <a:endParaRPr lang="en-US" sz="3200" dirty="0"/>
          </a:p>
        </p:txBody>
      </p:sp>
      <p:sp>
        <p:nvSpPr>
          <p:cNvPr id="4" name="Forecast step 1"/>
          <p:cNvSpPr/>
          <p:nvPr/>
        </p:nvSpPr>
        <p:spPr>
          <a:xfrm>
            <a:off x="548640" y="1554480"/>
            <a:ext cx="2514600" cy="1737360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31520" y="17373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Hourly means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224028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per-second occupancy averaged by hour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3063240" y="21488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chemeClr val="accent1"/>
                </a:solidFill>
              </a:rPr>
              <a:t>→</a:t>
            </a:r>
            <a:endParaRPr lang="en-US" sz="2200" dirty="0"/>
          </a:p>
        </p:txBody>
      </p:sp>
      <p:sp>
        <p:nvSpPr>
          <p:cNvPr id="8" name="Forecast step 2"/>
          <p:cNvSpPr/>
          <p:nvPr/>
        </p:nvSpPr>
        <p:spPr>
          <a:xfrm>
            <a:off x="3337560" y="1554480"/>
            <a:ext cx="2514600" cy="1737360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520440" y="17373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Backtest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3520440" y="224028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train on first 80%, test on the rest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5852160" y="21488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chemeClr val="accent1"/>
                </a:solidFill>
              </a:rPr>
              <a:t>→</a:t>
            </a:r>
            <a:endParaRPr lang="en-US" sz="2200" dirty="0"/>
          </a:p>
        </p:txBody>
      </p:sp>
      <p:sp>
        <p:nvSpPr>
          <p:cNvPr id="12" name="Forecast step 3"/>
          <p:cNvSpPr/>
          <p:nvPr/>
        </p:nvSpPr>
        <p:spPr>
          <a:xfrm>
            <a:off x="6126480" y="1554480"/>
            <a:ext cx="2514600" cy="1737360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309360" y="17373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Compare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6309360" y="224028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LSTM vs last value vs same hour yesterday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8641080" y="21488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chemeClr val="accent1"/>
                </a:solidFill>
              </a:rPr>
              <a:t>→</a:t>
            </a:r>
            <a:endParaRPr lang="en-US" sz="2200" dirty="0"/>
          </a:p>
        </p:txBody>
      </p:sp>
      <p:sp>
        <p:nvSpPr>
          <p:cNvPr id="16" name="Forecast step 4"/>
          <p:cNvSpPr/>
          <p:nvPr/>
        </p:nvSpPr>
        <p:spPr>
          <a:xfrm>
            <a:off x="8915400" y="1554480"/>
            <a:ext cx="2514600" cy="1737360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9098280" y="17373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Forecast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9098280" y="224028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lowest error wins; its name is shown</a:t>
            </a:r>
            <a:endParaRPr lang="en-US" sz="1400" dirty="0"/>
          </a:p>
        </p:txBody>
      </p:sp>
      <p:sp>
        <p:nvSpPr>
          <p:cNvPr id="19" name="LSTM spec card"/>
          <p:cNvSpPr/>
          <p:nvPr/>
        </p:nvSpPr>
        <p:spPr>
          <a:xfrm>
            <a:off x="548640" y="3657600"/>
            <a:ext cx="5486400" cy="2468880"/>
          </a:xfrm>
          <a:prstGeom prst="roundRect">
            <a:avLst>
              <a:gd name="adj" fmla="val 370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22960" y="38404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The network</a:t>
            </a:r>
            <a:endParaRPr lang="en-US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822960" y="4343400"/>
            <a:ext cx="4937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1 LSTM layer, 32 units, then a linear output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Looks at the last 6 hours, predicts the next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Adam, learning rate 0.01, 200 epochs, MSE loss</a:t>
            </a:r>
            <a:endParaRPr lang="en-US" sz="1500" dirty="0"/>
          </a:p>
        </p:txBody>
      </p:sp>
      <p:sp>
        <p:nvSpPr>
          <p:cNvPr id="22" name="Honest card"/>
          <p:cNvSpPr/>
          <p:nvPr/>
        </p:nvSpPr>
        <p:spPr>
          <a:xfrm>
            <a:off x="6309360" y="3657600"/>
            <a:ext cx="5303520" cy="2468880"/>
          </a:xfrm>
          <a:prstGeom prst="roundRect">
            <a:avLst>
              <a:gd name="adj" fmla="val 3704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583680" y="38404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What is and is not proven</a:t>
            </a:r>
            <a:endParaRPr lang="en-US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6583680" y="4343400"/>
            <a:ext cx="4754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On 17 minutes of mall data the LSTM only tied the baseline. It won on synthetic 14-day data, which shows the selection works, not that a real store benefits. It needs days of history.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The analyst: a local language model writing SQL</a:t>
            </a:r>
            <a:endParaRPr lang="en-US" sz="3200" dirty="0"/>
          </a:p>
        </p:txBody>
      </p:sp>
      <p:sp>
        <p:nvSpPr>
          <p:cNvPr id="4" name="Analyst step 1"/>
          <p:cNvSpPr/>
          <p:nvPr/>
        </p:nvSpPr>
        <p:spPr>
          <a:xfrm>
            <a:off x="548640" y="1417320"/>
            <a:ext cx="2011680" cy="2103120"/>
          </a:xfrm>
          <a:prstGeom prst="roundRect">
            <a:avLst>
              <a:gd name="adj" fmla="val 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31520" y="16002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Question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214884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typed in the dashboard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2560320" y="21488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chemeClr val="accent1"/>
                </a:solidFill>
              </a:rPr>
              <a:t>→</a:t>
            </a:r>
            <a:endParaRPr lang="en-US" sz="2200" dirty="0"/>
          </a:p>
        </p:txBody>
      </p:sp>
      <p:sp>
        <p:nvSpPr>
          <p:cNvPr id="8" name="Analyst step 2"/>
          <p:cNvSpPr/>
          <p:nvPr/>
        </p:nvSpPr>
        <p:spPr>
          <a:xfrm>
            <a:off x="2834640" y="1417320"/>
            <a:ext cx="2011680" cy="2103120"/>
          </a:xfrm>
          <a:prstGeom prst="roundRect">
            <a:avLst>
              <a:gd name="adj" fmla="val 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017520" y="16002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Qwen2.5-1.5B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3017520" y="214884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writes one SELECT from schema, rules, 17 examples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4846320" y="21488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chemeClr val="accent1"/>
                </a:solidFill>
              </a:rPr>
              <a:t>→</a:t>
            </a:r>
            <a:endParaRPr lang="en-US" sz="2200" dirty="0"/>
          </a:p>
        </p:txBody>
      </p:sp>
      <p:sp>
        <p:nvSpPr>
          <p:cNvPr id="12" name="Analyst step 3"/>
          <p:cNvSpPr/>
          <p:nvPr/>
        </p:nvSpPr>
        <p:spPr>
          <a:xfrm>
            <a:off x="5120640" y="1417320"/>
            <a:ext cx="2011680" cy="2103120"/>
          </a:xfrm>
          <a:prstGeom prst="roundRect">
            <a:avLst>
              <a:gd name="adj" fmla="val 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303520" y="16002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Fixes + guard</a:t>
            </a:r>
            <a:endParaRPr 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5303520" y="214884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repair, allow-list, 5 s limit, 50 rows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7132320" y="21488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chemeClr val="accent1"/>
                </a:solidFill>
              </a:rPr>
              <a:t>→</a:t>
            </a:r>
            <a:endParaRPr lang="en-US" sz="2200" dirty="0"/>
          </a:p>
        </p:txBody>
      </p:sp>
      <p:sp>
        <p:nvSpPr>
          <p:cNvPr id="16" name="Analyst step 4"/>
          <p:cNvSpPr/>
          <p:nvPr/>
        </p:nvSpPr>
        <p:spPr>
          <a:xfrm>
            <a:off x="7406640" y="1417320"/>
            <a:ext cx="2011680" cy="2103120"/>
          </a:xfrm>
          <a:prstGeom prst="roundRect">
            <a:avLst>
              <a:gd name="adj" fmla="val 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589520" y="16002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SQLite</a:t>
            </a:r>
            <a:endParaRPr lang="en-US" sz="1700" dirty="0"/>
          </a:p>
        </p:txBody>
      </p:sp>
      <p:sp>
        <p:nvSpPr>
          <p:cNvPr id="18" name="Text 15"/>
          <p:cNvSpPr txBox="1"/>
          <p:nvPr/>
        </p:nvSpPr>
        <p:spPr>
          <a:xfrm>
            <a:off x="7589520" y="214884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runs it read-only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9418320" y="21488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chemeClr val="accent1"/>
                </a:solidFill>
              </a:rPr>
              <a:t>→</a:t>
            </a:r>
            <a:endParaRPr lang="en-US" sz="2200" dirty="0"/>
          </a:p>
        </p:txBody>
      </p:sp>
      <p:sp>
        <p:nvSpPr>
          <p:cNvPr id="20" name="Analyst step 5"/>
          <p:cNvSpPr/>
          <p:nvPr/>
        </p:nvSpPr>
        <p:spPr>
          <a:xfrm>
            <a:off x="9692640" y="1417320"/>
            <a:ext cx="2011680" cy="2103120"/>
          </a:xfrm>
          <a:prstGeom prst="roundRect">
            <a:avLst>
              <a:gd name="adj" fmla="val 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875520" y="16002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Qwen again</a:t>
            </a:r>
            <a:endParaRPr lang="en-US" sz="1700" dirty="0"/>
          </a:p>
        </p:txBody>
      </p:sp>
      <p:sp>
        <p:nvSpPr>
          <p:cNvPr id="22" name="Text 19"/>
          <p:cNvSpPr txBox="1"/>
          <p:nvPr/>
        </p:nvSpPr>
        <p:spPr>
          <a:xfrm>
            <a:off x="9875520" y="214884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explains the rows in a sentence</a:t>
            </a:r>
            <a:endParaRPr lang="en-US" sz="1400" dirty="0"/>
          </a:p>
        </p:txBody>
      </p:sp>
      <p:sp>
        <p:nvSpPr>
          <p:cNvPr id="23" name="Fixes card"/>
          <p:cNvSpPr/>
          <p:nvPr/>
        </p:nvSpPr>
        <p:spPr>
          <a:xfrm>
            <a:off x="548640" y="3794760"/>
            <a:ext cx="5486400" cy="2331720"/>
          </a:xfrm>
          <a:prstGeom prst="roundRect">
            <a:avLst>
              <a:gd name="adj" fmla="val 392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22960" y="39319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Deterministic fixes</a:t>
            </a:r>
            <a:endParaRPr lang="en-US" sz="1700" dirty="0"/>
          </a:p>
        </p:txBody>
      </p:sp>
      <p:sp>
        <p:nvSpPr>
          <p:cNvPr id="25" name="Text 22"/>
          <p:cNvSpPr txBox="1"/>
          <p:nvPr/>
        </p:nvSpPr>
        <p:spPr>
          <a:xfrm>
            <a:off x="822960" y="4389120"/>
            <a:ext cx="4937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Drop role filters that cannot match anything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Drop invented zone codes and impossible values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Add a missing group filter; switch to the right table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One error-aware retry</a:t>
            </a:r>
            <a:endParaRPr lang="en-US" sz="1400" dirty="0"/>
          </a:p>
        </p:txBody>
      </p:sp>
      <p:sp>
        <p:nvSpPr>
          <p:cNvPr id="26" name="Guard card"/>
          <p:cNvSpPr/>
          <p:nvPr/>
        </p:nvSpPr>
        <p:spPr>
          <a:xfrm>
            <a:off x="6309360" y="3794760"/>
            <a:ext cx="5303520" cy="2331720"/>
          </a:xfrm>
          <a:prstGeom prst="roundRect">
            <a:avLst>
              <a:gd name="adj" fmla="val 392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583680" y="39319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The guard (SQLite itself)</a:t>
            </a:r>
            <a:endParaRPr lang="en-US" sz="1700" dirty="0"/>
          </a:p>
        </p:txBody>
      </p:sp>
      <p:sp>
        <p:nvSpPr>
          <p:cNvPr id="28" name="Text 25"/>
          <p:cNvSpPr txBox="1"/>
          <p:nvPr/>
        </p:nvSpPr>
        <p:spPr>
          <a:xfrm>
            <a:off x="6583680" y="4389120"/>
            <a:ext cx="4754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Authorizer: only 4 tables readable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Read-only connection, 5 second cutoff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Result: about 90% correct on unseen wording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How the algorithms differ</a:t>
            </a:r>
            <a:endParaRPr lang="en-US" sz="3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1672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194560"/>
                <a:gridCol w="2560320"/>
                <a:gridCol w="2194560"/>
                <a:gridCol w="2130552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Algorithm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Kind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Learns from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Output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Used for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YOLOv8s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CNN detector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COCO (pretrained)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boxes + scores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find people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ByteTrack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Kalman + Hungarian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nothing (classical)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tracks with IDs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follow people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Line crossing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geometry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nothing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in / out events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entrance counts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Fragment merge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greedy heuristic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nothing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fewer tracks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people estimate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KMeans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unsupervised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the video itself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 groups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behaviour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CLIP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vision-language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pretrained, zero-shot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similarity score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carried bag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LSTM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recurrent network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the store's history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next-hour counts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forecast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Qwen 1.5B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transformer LLM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pretrained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SQL, then text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analyst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548640" y="576072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Detection answers who is in a frame; tracking adds time so a person keeps one ID. Only the LSTM and KMeans are fitted to your data.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Why these choices, and what we gave up</a:t>
            </a:r>
            <a:endParaRPr lang="en-US" sz="3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1672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194560"/>
                <a:gridCol w="2377440"/>
                <a:gridCol w="2926080"/>
                <a:gridCol w="1490472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Decision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Chosen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Instead of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Reason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Cost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Detector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YOLOv8s, 1280 px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nano at 640 px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error 4.1 vs 13.2 people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slower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Tracker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ByteTrack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DeepSORT / BoT-SORT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no extra model; keeps weak boxes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ID switches in crowds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Groups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KMeans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fixed thresholds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needs no labels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names relative per video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Attributes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CLIP zero-shot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train a classifier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no labelled data; 74% on big crops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weak on small people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Forecast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LSTM by backtest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baselines only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can learn a daily shape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needs days of data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Analyst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local Qwen 1.5B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cloud model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privacy, no API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about 90% on new wording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Storage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SQLite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server database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one file, no setup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one machine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Backend: what happens when you upload a video</a:t>
            </a:r>
            <a:endParaRPr lang="en-US" sz="3200" dirty="0"/>
          </a:p>
        </p:txBody>
      </p:sp>
      <p:sp>
        <p:nvSpPr>
          <p:cNvPr id="4" name="Backend step 1"/>
          <p:cNvSpPr/>
          <p:nvPr/>
        </p:nvSpPr>
        <p:spPr>
          <a:xfrm>
            <a:off x="548640" y="1463040"/>
            <a:ext cx="3520440" cy="2011680"/>
          </a:xfrm>
          <a:prstGeom prst="roundRect">
            <a:avLst>
              <a:gd name="adj" fmla="val 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tep badge 1"/>
          <p:cNvSpPr/>
          <p:nvPr/>
        </p:nvSpPr>
        <p:spPr>
          <a:xfrm>
            <a:off x="777240" y="16916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417320" y="17373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Upload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37744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POST /analyze_video: type and size checked, file saved to disk</a:t>
            </a:r>
            <a:endParaRPr lang="en-US" sz="1400" dirty="0"/>
          </a:p>
        </p:txBody>
      </p:sp>
      <p:sp>
        <p:nvSpPr>
          <p:cNvPr id="9" name="Backend step 2"/>
          <p:cNvSpPr/>
          <p:nvPr/>
        </p:nvSpPr>
        <p:spPr>
          <a:xfrm>
            <a:off x="4297680" y="1463040"/>
            <a:ext cx="3520440" cy="2011680"/>
          </a:xfrm>
          <a:prstGeom prst="roundRect">
            <a:avLst>
              <a:gd name="adj" fmla="val 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tep badge 2"/>
          <p:cNvSpPr/>
          <p:nvPr/>
        </p:nvSpPr>
        <p:spPr>
          <a:xfrm>
            <a:off x="4526280" y="16916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2628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5166360" y="17373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Queue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0" y="237744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 row in the jobs table; the job id comes back immediately</a:t>
            </a:r>
            <a:endParaRPr lang="en-US" sz="1400" dirty="0"/>
          </a:p>
        </p:txBody>
      </p:sp>
      <p:sp>
        <p:nvSpPr>
          <p:cNvPr id="14" name="Backend step 3"/>
          <p:cNvSpPr/>
          <p:nvPr/>
        </p:nvSpPr>
        <p:spPr>
          <a:xfrm>
            <a:off x="8046720" y="1463040"/>
            <a:ext cx="3520440" cy="2011680"/>
          </a:xfrm>
          <a:prstGeom prst="roundRect">
            <a:avLst>
              <a:gd name="adj" fmla="val 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Step badge 3"/>
          <p:cNvSpPr/>
          <p:nvPr/>
        </p:nvSpPr>
        <p:spPr>
          <a:xfrm>
            <a:off x="8275320" y="16916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27532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8915400" y="17373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Analyse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8321040" y="237744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One worker runs detect, track, measure, cluster, optional CLIP</a:t>
            </a:r>
            <a:endParaRPr lang="en-US" sz="1400" dirty="0"/>
          </a:p>
        </p:txBody>
      </p:sp>
      <p:sp>
        <p:nvSpPr>
          <p:cNvPr id="19" name="Backend step 4"/>
          <p:cNvSpPr/>
          <p:nvPr/>
        </p:nvSpPr>
        <p:spPr>
          <a:xfrm>
            <a:off x="548640" y="3703320"/>
            <a:ext cx="3520440" cy="2011680"/>
          </a:xfrm>
          <a:prstGeom prst="roundRect">
            <a:avLst>
              <a:gd name="adj" fmla="val 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Step badge 4"/>
          <p:cNvSpPr/>
          <p:nvPr/>
        </p:nvSpPr>
        <p:spPr>
          <a:xfrm>
            <a:off x="777240" y="39319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77240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4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1417320" y="39776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Store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822960" y="461772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One transaction writes videos, tracks, crossings, per-second counts</a:t>
            </a:r>
            <a:endParaRPr lang="en-US" sz="1400" dirty="0"/>
          </a:p>
        </p:txBody>
      </p:sp>
      <p:sp>
        <p:nvSpPr>
          <p:cNvPr id="24" name="Backend step 5"/>
          <p:cNvSpPr/>
          <p:nvPr/>
        </p:nvSpPr>
        <p:spPr>
          <a:xfrm>
            <a:off x="4297680" y="3703320"/>
            <a:ext cx="3520440" cy="2011680"/>
          </a:xfrm>
          <a:prstGeom prst="roundRect">
            <a:avLst>
              <a:gd name="adj" fmla="val 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Step badge 5"/>
          <p:cNvSpPr/>
          <p:nvPr/>
        </p:nvSpPr>
        <p:spPr>
          <a:xfrm>
            <a:off x="4526280" y="39319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526280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5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5166360" y="39776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Clean up</a:t>
            </a:r>
            <a:endParaRPr lang="en-US" sz="1800" dirty="0"/>
          </a:p>
        </p:txBody>
      </p:sp>
      <p:sp>
        <p:nvSpPr>
          <p:cNvPr id="28" name="Text 25"/>
          <p:cNvSpPr txBox="1"/>
          <p:nvPr/>
        </p:nvSpPr>
        <p:spPr>
          <a:xfrm>
            <a:off x="4572000" y="461772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Upload deleted; job marked done with its summary</a:t>
            </a:r>
            <a:endParaRPr lang="en-US" sz="1400" dirty="0"/>
          </a:p>
        </p:txBody>
      </p:sp>
      <p:sp>
        <p:nvSpPr>
          <p:cNvPr id="29" name="Backend step 6"/>
          <p:cNvSpPr/>
          <p:nvPr/>
        </p:nvSpPr>
        <p:spPr>
          <a:xfrm>
            <a:off x="8046720" y="3703320"/>
            <a:ext cx="3520440" cy="2011680"/>
          </a:xfrm>
          <a:prstGeom prst="roundRect">
            <a:avLst>
              <a:gd name="adj" fmla="val 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Step badge 6"/>
          <p:cNvSpPr/>
          <p:nvPr/>
        </p:nvSpPr>
        <p:spPr>
          <a:xfrm>
            <a:off x="8275320" y="39319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275320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6</a:t>
            </a:r>
            <a:endParaRPr lang="en-US" sz="1600" dirty="0"/>
          </a:p>
        </p:txBody>
      </p:sp>
      <p:sp>
        <p:nvSpPr>
          <p:cNvPr id="32" name="Text 29"/>
          <p:cNvSpPr txBox="1"/>
          <p:nvPr/>
        </p:nvSpPr>
        <p:spPr>
          <a:xfrm>
            <a:off x="8915400" y="39776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Poll</a:t>
            </a:r>
            <a:endParaRPr lang="en-US" sz="1800" dirty="0"/>
          </a:p>
        </p:txBody>
      </p:sp>
      <p:sp>
        <p:nvSpPr>
          <p:cNvPr id="33" name="Text 30"/>
          <p:cNvSpPr txBox="1"/>
          <p:nvPr/>
        </p:nvSpPr>
        <p:spPr>
          <a:xfrm>
            <a:off x="8321040" y="461772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The page asks GET /jobs/id every 1.5 s, then refreshes</a:t>
            </a:r>
            <a:endParaRPr lang="en-US" sz="1400" dirty="0"/>
          </a:p>
        </p:txBody>
      </p:sp>
      <p:sp>
        <p:nvSpPr>
          <p:cNvPr id="34" name="Text 31"/>
          <p:cNvSpPr txBox="1"/>
          <p:nvPr/>
        </p:nvSpPr>
        <p:spPr>
          <a:xfrm>
            <a:off x="548640" y="59893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Also: auth key, rate limit, retention purge, and a monitor that analyses a camera in back-to-back windows.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Frontend: what you see and where it comes from</a:t>
            </a:r>
            <a:endParaRPr lang="en-US" sz="3200" dirty="0"/>
          </a:p>
        </p:txBody>
      </p:sp>
      <p:pic>
        <p:nvPicPr>
          <p:cNvPr id="4" name="Dashboard" descr="RetailVision dashboa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0" y="1417320"/>
            <a:ext cx="4663440" cy="3502152"/>
          </a:xfrm>
          <a:prstGeom prst="rect">
            <a:avLst/>
          </a:prstGeom>
        </p:spPr>
      </p:pic>
      <p:sp>
        <p:nvSpPr>
          <p:cNvPr id="5" name="Frontend row 1"/>
          <p:cNvSpPr/>
          <p:nvPr/>
        </p:nvSpPr>
        <p:spPr>
          <a:xfrm>
            <a:off x="548640" y="1417320"/>
            <a:ext cx="621792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777240" y="14173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KPI cards</a:t>
            </a:r>
            <a:endParaRPr lang="en-US" sz="1500" dirty="0"/>
          </a:p>
        </p:txBody>
      </p:sp>
      <p:sp>
        <p:nvSpPr>
          <p:cNvPr id="7" name="Text 3"/>
          <p:cNvSpPr txBox="1"/>
          <p:nvPr/>
        </p:nvSpPr>
        <p:spPr>
          <a:xfrm>
            <a:off x="3931920" y="14173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</a:rPr>
              <a:t>/overview/</a:t>
            </a:r>
            <a:endParaRPr lang="en-US" sz="1300" dirty="0"/>
          </a:p>
        </p:txBody>
      </p:sp>
      <p:sp>
        <p:nvSpPr>
          <p:cNvPr id="8" name="Frontend row 2"/>
          <p:cNvSpPr/>
          <p:nvPr/>
        </p:nvSpPr>
        <p:spPr>
          <a:xfrm>
            <a:off x="548640" y="2167128"/>
            <a:ext cx="621792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777240" y="2167128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Upload, progress, summary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3931920" y="2167128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</a:rPr>
              <a:t>/analyze_video/, /jobs/</a:t>
            </a:r>
            <a:endParaRPr lang="en-US" sz="1300" dirty="0"/>
          </a:p>
        </p:txBody>
      </p:sp>
      <p:sp>
        <p:nvSpPr>
          <p:cNvPr id="11" name="Frontend row 3"/>
          <p:cNvSpPr/>
          <p:nvPr/>
        </p:nvSpPr>
        <p:spPr>
          <a:xfrm>
            <a:off x="548640" y="2916936"/>
            <a:ext cx="621792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777240" y="2916936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Counting-line canvas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3931920" y="2916936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</a:rPr>
              <a:t>/frame/, /lines/</a:t>
            </a:r>
            <a:endParaRPr lang="en-US" sz="1300" dirty="0"/>
          </a:p>
        </p:txBody>
      </p:sp>
      <p:sp>
        <p:nvSpPr>
          <p:cNvPr id="14" name="Frontend row 4"/>
          <p:cNvSpPr/>
          <p:nvPr/>
        </p:nvSpPr>
        <p:spPr>
          <a:xfrm>
            <a:off x="548640" y="3666744"/>
            <a:ext cx="621792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777240" y="3666744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Footfall + forecast chart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3931920" y="3666744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</a:rPr>
              <a:t>/customer_traffic/, /forecast/</a:t>
            </a:r>
            <a:endParaRPr lang="en-US" sz="1300" dirty="0"/>
          </a:p>
        </p:txBody>
      </p:sp>
      <p:sp>
        <p:nvSpPr>
          <p:cNvPr id="17" name="Frontend row 5"/>
          <p:cNvSpPr/>
          <p:nvPr/>
        </p:nvSpPr>
        <p:spPr>
          <a:xfrm>
            <a:off x="548640" y="4416552"/>
            <a:ext cx="621792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777240" y="4416552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Behaviour donut, zone grid</a:t>
            </a:r>
            <a:endParaRPr lang="en-US" sz="1500" dirty="0"/>
          </a:p>
        </p:txBody>
      </p:sp>
      <p:sp>
        <p:nvSpPr>
          <p:cNvPr id="19" name="Text 15"/>
          <p:cNvSpPr txBox="1"/>
          <p:nvPr/>
        </p:nvSpPr>
        <p:spPr>
          <a:xfrm>
            <a:off x="3931920" y="4416552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</a:rPr>
              <a:t>/segments/, /overview/</a:t>
            </a:r>
            <a:endParaRPr lang="en-US" sz="1300" dirty="0"/>
          </a:p>
        </p:txBody>
      </p:sp>
      <p:sp>
        <p:nvSpPr>
          <p:cNvPr id="20" name="Frontend row 6"/>
          <p:cNvSpPr/>
          <p:nvPr/>
        </p:nvSpPr>
        <p:spPr>
          <a:xfrm>
            <a:off x="548640" y="5166360"/>
            <a:ext cx="621792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777240" y="51663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Analyst chat with SQL</a:t>
            </a:r>
            <a:endParaRPr lang="en-US" sz="1500" dirty="0"/>
          </a:p>
        </p:txBody>
      </p:sp>
      <p:sp>
        <p:nvSpPr>
          <p:cNvPr id="22" name="Text 18"/>
          <p:cNvSpPr txBox="1"/>
          <p:nvPr/>
        </p:nvSpPr>
        <p:spPr>
          <a:xfrm>
            <a:off x="3931920" y="51663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</a:rPr>
              <a:t>/ask/</a:t>
            </a:r>
            <a:endParaRPr lang="en-US" sz="1300" dirty="0"/>
          </a:p>
        </p:txBody>
      </p:sp>
      <p:sp>
        <p:nvSpPr>
          <p:cNvPr id="23" name="Text 19"/>
          <p:cNvSpPr txBox="1"/>
          <p:nvPr/>
        </p:nvSpPr>
        <p:spPr>
          <a:xfrm>
            <a:off x="6949440" y="512064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Plain JavaScript, Chart.js for charts. The page needs internet for Chart.js and fonts; everything else is local.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What was measured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325880"/>
          <a:ext cx="676656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ource 1"/>
          <p:cNvSpPr/>
          <p:nvPr/>
        </p:nvSpPr>
        <p:spPr>
          <a:xfrm>
            <a:off x="7589520" y="1463040"/>
            <a:ext cx="4023360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7818120" y="15727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Public mall data</a:t>
            </a:r>
            <a:endParaRPr lang="en-US" sz="1400" dirty="0"/>
          </a:p>
        </p:txBody>
      </p:sp>
      <p:sp>
        <p:nvSpPr>
          <p:cNvPr id="7" name="Text 3"/>
          <p:cNvSpPr txBox="1"/>
          <p:nvPr/>
        </p:nvSpPr>
        <p:spPr>
          <a:xfrm>
            <a:off x="7818120" y="19659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occupancy, detection</a:t>
            </a:r>
            <a:endParaRPr lang="en-US" sz="1300" dirty="0"/>
          </a:p>
        </p:txBody>
      </p:sp>
      <p:sp>
        <p:nvSpPr>
          <p:cNvPr id="8" name="Source 2"/>
          <p:cNvSpPr/>
          <p:nvPr/>
        </p:nvSpPr>
        <p:spPr>
          <a:xfrm>
            <a:off x="7589520" y="2651760"/>
            <a:ext cx="4023360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7818120" y="27614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One entrance clip, one annotator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7818120" y="31546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crossings, bags (n = 53)</a:t>
            </a:r>
            <a:endParaRPr lang="en-US" sz="1300" dirty="0"/>
          </a:p>
        </p:txBody>
      </p:sp>
      <p:sp>
        <p:nvSpPr>
          <p:cNvPr id="11" name="Source 3"/>
          <p:cNvSpPr/>
          <p:nvPr/>
        </p:nvSpPr>
        <p:spPr>
          <a:xfrm>
            <a:off x="7589520" y="3840480"/>
            <a:ext cx="4023360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7818120" y="39502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12 unseen questions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7818120" y="43434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analyst</a:t>
            </a:r>
            <a:endParaRPr lang="en-US" sz="1300" dirty="0"/>
          </a:p>
        </p:txBody>
      </p:sp>
      <p:sp>
        <p:nvSpPr>
          <p:cNvPr id="14" name="Source 4"/>
          <p:cNvSpPr/>
          <p:nvPr/>
        </p:nvSpPr>
        <p:spPr>
          <a:xfrm>
            <a:off x="7589520" y="5029200"/>
            <a:ext cx="4023360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7818120" y="51389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30-minute soak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7818120" y="55321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135 windows, 0 errors, memory +4.4%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Honest limits</a:t>
            </a:r>
            <a:endParaRPr lang="en-US" sz="3200" dirty="0"/>
          </a:p>
        </p:txBody>
      </p:sp>
      <p:sp>
        <p:nvSpPr>
          <p:cNvPr id="4" name="Limit 1"/>
          <p:cNvSpPr/>
          <p:nvPr/>
        </p:nvSpPr>
        <p:spPr>
          <a:xfrm>
            <a:off x="548640" y="1463040"/>
            <a:ext cx="3520440" cy="205740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Limit dot 1"/>
          <p:cNvSpPr/>
          <p:nvPr/>
        </p:nvSpPr>
        <p:spPr>
          <a:xfrm>
            <a:off x="777240" y="1737360"/>
            <a:ext cx="256032" cy="25603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188720" y="166420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People tracked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33172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Overcounts in crowds (ID switches). Use occupancy and crossings.</a:t>
            </a:r>
            <a:endParaRPr lang="en-US" sz="1400" dirty="0"/>
          </a:p>
        </p:txBody>
      </p:sp>
      <p:sp>
        <p:nvSpPr>
          <p:cNvPr id="8" name="Limit 2"/>
          <p:cNvSpPr/>
          <p:nvPr/>
        </p:nvSpPr>
        <p:spPr>
          <a:xfrm>
            <a:off x="4297680" y="1463040"/>
            <a:ext cx="3520440" cy="205740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Limit dot 2"/>
          <p:cNvSpPr/>
          <p:nvPr/>
        </p:nvSpPr>
        <p:spPr>
          <a:xfrm>
            <a:off x="4526280" y="1737360"/>
            <a:ext cx="256032" cy="25603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937760" y="166420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Crossings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4572000" y="233172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Need a camera facing a door and a drawn line. About 70% precision.</a:t>
            </a:r>
            <a:endParaRPr lang="en-US" sz="1400" dirty="0"/>
          </a:p>
        </p:txBody>
      </p:sp>
      <p:sp>
        <p:nvSpPr>
          <p:cNvPr id="12" name="Limit 3"/>
          <p:cNvSpPr/>
          <p:nvPr/>
        </p:nvSpPr>
        <p:spPr>
          <a:xfrm>
            <a:off x="8046720" y="1463040"/>
            <a:ext cx="3520440" cy="205740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Limit dot 3"/>
          <p:cNvSpPr/>
          <p:nvPr/>
        </p:nvSpPr>
        <p:spPr>
          <a:xfrm>
            <a:off x="8275320" y="1737360"/>
            <a:ext cx="256032" cy="25603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686800" y="166420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Staff vs customer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8321040" y="233172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Never validated. Switched off.</a:t>
            </a:r>
            <a:endParaRPr lang="en-US" sz="1400" dirty="0"/>
          </a:p>
        </p:txBody>
      </p:sp>
      <p:sp>
        <p:nvSpPr>
          <p:cNvPr id="16" name="Limit 4"/>
          <p:cNvSpPr/>
          <p:nvPr/>
        </p:nvSpPr>
        <p:spPr>
          <a:xfrm>
            <a:off x="548640" y="3749040"/>
            <a:ext cx="3520440" cy="205740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Limit dot 4"/>
          <p:cNvSpPr/>
          <p:nvPr/>
        </p:nvSpPr>
        <p:spPr>
          <a:xfrm>
            <a:off x="777240" y="4023360"/>
            <a:ext cx="256032" cy="25603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188720" y="395020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Forecast</a:t>
            </a:r>
            <a:endParaRPr lang="en-US" sz="1700" dirty="0"/>
          </a:p>
        </p:txBody>
      </p:sp>
      <p:sp>
        <p:nvSpPr>
          <p:cNvPr id="19" name="Text 16"/>
          <p:cNvSpPr txBox="1"/>
          <p:nvPr/>
        </p:nvSpPr>
        <p:spPr>
          <a:xfrm>
            <a:off x="822960" y="461772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Needs days of history; under 9 hours it shows the flat average, and with no data, nothing.</a:t>
            </a:r>
            <a:endParaRPr lang="en-US" sz="1400" dirty="0"/>
          </a:p>
        </p:txBody>
      </p:sp>
      <p:sp>
        <p:nvSpPr>
          <p:cNvPr id="20" name="Limit 5"/>
          <p:cNvSpPr/>
          <p:nvPr/>
        </p:nvSpPr>
        <p:spPr>
          <a:xfrm>
            <a:off x="4297680" y="3749040"/>
            <a:ext cx="3520440" cy="205740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Limit dot 5"/>
          <p:cNvSpPr/>
          <p:nvPr/>
        </p:nvSpPr>
        <p:spPr>
          <a:xfrm>
            <a:off x="4526280" y="4023360"/>
            <a:ext cx="256032" cy="25603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4937760" y="395020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Behaviour groups</a:t>
            </a:r>
            <a:endParaRPr lang="en-US" sz="1700" dirty="0"/>
          </a:p>
        </p:txBody>
      </p:sp>
      <p:sp>
        <p:nvSpPr>
          <p:cNvPr id="23" name="Text 20"/>
          <p:cNvSpPr txBox="1"/>
          <p:nvPr/>
        </p:nvSpPr>
        <p:spPr>
          <a:xfrm>
            <a:off x="4572000" y="461772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Always three, names relative to one video.</a:t>
            </a:r>
            <a:endParaRPr lang="en-US" sz="1400" dirty="0"/>
          </a:p>
        </p:txBody>
      </p:sp>
      <p:sp>
        <p:nvSpPr>
          <p:cNvPr id="24" name="Limit 6"/>
          <p:cNvSpPr/>
          <p:nvPr/>
        </p:nvSpPr>
        <p:spPr>
          <a:xfrm>
            <a:off x="8046720" y="3749040"/>
            <a:ext cx="3520440" cy="205740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Limit dot 6"/>
          <p:cNvSpPr/>
          <p:nvPr/>
        </p:nvSpPr>
        <p:spPr>
          <a:xfrm>
            <a:off x="8275320" y="4023360"/>
            <a:ext cx="256032" cy="25603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686800" y="395020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Analyst</a:t>
            </a:r>
            <a:endParaRPr lang="en-US" sz="1700" dirty="0"/>
          </a:p>
        </p:txBody>
      </p:sp>
      <p:sp>
        <p:nvSpPr>
          <p:cNvPr id="27" name="Text 24"/>
          <p:cNvSpPr txBox="1"/>
          <p:nvPr/>
        </p:nvSpPr>
        <p:spPr>
          <a:xfrm>
            <a:off x="8321040" y="461772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 1.5B model: about 90%. Always read the SQL it shows.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63040"/>
            <a:ext cx="65836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0" b="1" dirty="0">
                <a:solidFill>
                  <a:schemeClr val="bg1"/>
                </a:solidFill>
              </a:rPr>
              <a:t>From camera feed to decision, locally</a:t>
            </a: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840480"/>
            <a:ext cx="640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Detect, track, count, group, forecast and ask, with every number traceable and every limit stated.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7498080" y="137160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8961120" y="160020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core algorithms, each with a stated reason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7498080" y="274320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84</a:t>
            </a:r>
            <a:endParaRPr lang="en-US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8961120" y="297180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automated tests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498080" y="411480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5400" dirty="0"/>
          </a:p>
        </p:txBody>
      </p:sp>
      <p:sp>
        <p:nvSpPr>
          <p:cNvPr id="9" name="Text 7"/>
          <p:cNvSpPr txBox="1"/>
          <p:nvPr/>
        </p:nvSpPr>
        <p:spPr>
          <a:xfrm>
            <a:off x="8961120" y="434340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external AI services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760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1"/>
                </a:solidFill>
              </a:rPr>
              <a:t>docs/HOW_IT_WORKS.md has the full written explanation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ailVision Technical">
  <a:themeElements>
    <a:clrScheme name="RetailVision Technical">
      <a:dk1>
        <a:srgbClr val="0B1F2A"/>
      </a:dk1>
      <a:lt1>
        <a:srgbClr val="FFFFFF"/>
      </a:lt1>
      <a:dk2>
        <a:srgbClr val="3B5266"/>
      </a:dk2>
      <a:lt2>
        <a:srgbClr val="EEF3F6"/>
      </a:lt2>
      <a:accent1>
        <a:srgbClr val="F59E0B"/>
      </a:accent1>
      <a:accent2>
        <a:srgbClr val="0F9D8A"/>
      </a:accent2>
      <a:accent3>
        <a:srgbClr val="D64545"/>
      </a:accent3>
      <a:accent4>
        <a:srgbClr val="5B6CF0"/>
      </a:accent4>
      <a:accent5>
        <a:srgbClr val="64748B"/>
      </a:accent5>
      <a:accent6>
        <a:srgbClr val="22A55B"/>
      </a:accent6>
      <a:hlink>
        <a:srgbClr val="0F9D8A"/>
      </a:hlink>
      <a:folHlink>
        <a:srgbClr val="5B6CF0"/>
      </a:folHlink>
    </a:clrScheme>
    <a:fontScheme name="RetailVision Technical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RetailVision: how it works</dc:title>
  <dc:subject>PptxGenJS Presentation</dc:subject>
  <dc:creator>RetailVision team</dc:creator>
  <cp:lastModifiedBy>RetailVision team</cp:lastModifiedBy>
  <cp:revision>1</cp:revision>
  <dcterms:created xsi:type="dcterms:W3CDTF">2026-10-14T14:47:15Z</dcterms:created>
  <dcterms:modified xsi:type="dcterms:W3CDTF">2026-10-14T14:47:15Z</dcterms:modified>
</cp:coreProperties>
</file>